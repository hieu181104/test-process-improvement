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Inter SemiBold"/>
      <p:regular r:id="rId25"/>
      <p:bold r:id="rId26"/>
      <p:italic r:id="rId27"/>
      <p:boldItalic r:id="rId28"/>
    </p:embeddedFont>
    <p:embeddedFont>
      <p:font typeface="Playfair Display"/>
      <p:regular r:id="rId29"/>
      <p:bold r:id="rId30"/>
      <p:italic r:id="rId31"/>
      <p:boldItalic r:id="rId32"/>
    </p:embeddedFont>
    <p:embeddedFont>
      <p:font typeface="Inter"/>
      <p:regular r:id="rId33"/>
      <p:bold r:id="rId34"/>
      <p:italic r:id="rId35"/>
      <p:boldItalic r:id="rId36"/>
    </p:embeddedFont>
    <p:embeddedFont>
      <p:font typeface="Inter Medium"/>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Medium-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SemiBold-bold.fntdata"/><Relationship Id="rId25" Type="http://schemas.openxmlformats.org/officeDocument/2006/relationships/font" Target="fonts/InterSemiBold-regular.fntdata"/><Relationship Id="rId28" Type="http://schemas.openxmlformats.org/officeDocument/2006/relationships/font" Target="fonts/InterSemiBold-boldItalic.fntdata"/><Relationship Id="rId27" Type="http://schemas.openxmlformats.org/officeDocument/2006/relationships/font" Target="fonts/InterSemi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fairDispl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ayfairDisplay-italic.fntdata"/><Relationship Id="rId30" Type="http://schemas.openxmlformats.org/officeDocument/2006/relationships/font" Target="fonts/PlayfairDisplay-bold.fntdata"/><Relationship Id="rId11" Type="http://schemas.openxmlformats.org/officeDocument/2006/relationships/slide" Target="slides/slide6.xml"/><Relationship Id="rId33" Type="http://schemas.openxmlformats.org/officeDocument/2006/relationships/font" Target="fonts/Inter-regular.fntdata"/><Relationship Id="rId10" Type="http://schemas.openxmlformats.org/officeDocument/2006/relationships/slide" Target="slides/slide5.xml"/><Relationship Id="rId32" Type="http://schemas.openxmlformats.org/officeDocument/2006/relationships/font" Target="fonts/PlayfairDisplay-boldItalic.fntdata"/><Relationship Id="rId13" Type="http://schemas.openxmlformats.org/officeDocument/2006/relationships/slide" Target="slides/slide8.xml"/><Relationship Id="rId35" Type="http://schemas.openxmlformats.org/officeDocument/2006/relationships/font" Target="fonts/Inter-italic.fntdata"/><Relationship Id="rId12" Type="http://schemas.openxmlformats.org/officeDocument/2006/relationships/slide" Target="slides/slide7.xml"/><Relationship Id="rId34" Type="http://schemas.openxmlformats.org/officeDocument/2006/relationships/font" Target="fonts/Inter-bold.fntdata"/><Relationship Id="rId15" Type="http://schemas.openxmlformats.org/officeDocument/2006/relationships/slide" Target="slides/slide10.xml"/><Relationship Id="rId37" Type="http://schemas.openxmlformats.org/officeDocument/2006/relationships/font" Target="fonts/InterMedium-regular.fntdata"/><Relationship Id="rId14" Type="http://schemas.openxmlformats.org/officeDocument/2006/relationships/slide" Target="slides/slide9.xml"/><Relationship Id="rId36" Type="http://schemas.openxmlformats.org/officeDocument/2006/relationships/font" Target="fonts/Inter-boldItalic.fntdata"/><Relationship Id="rId17" Type="http://schemas.openxmlformats.org/officeDocument/2006/relationships/slide" Target="slides/slide12.xml"/><Relationship Id="rId39" Type="http://schemas.openxmlformats.org/officeDocument/2006/relationships/font" Target="fonts/InterMedium-italic.fntdata"/><Relationship Id="rId16" Type="http://schemas.openxmlformats.org/officeDocument/2006/relationships/slide" Target="slides/slide11.xml"/><Relationship Id="rId38" Type="http://schemas.openxmlformats.org/officeDocument/2006/relationships/font" Target="fonts/InterMedium-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3.png"/><Relationship Id="rId13" Type="http://schemas.openxmlformats.org/officeDocument/2006/relationships/image" Target="../media/image24.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1.png"/><Relationship Id="rId9" Type="http://schemas.openxmlformats.org/officeDocument/2006/relationships/image" Target="../media/image26.png"/><Relationship Id="rId15" Type="http://schemas.openxmlformats.org/officeDocument/2006/relationships/image" Target="../media/image28.png"/><Relationship Id="rId1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19.png"/><Relationship Id="rId7" Type="http://schemas.openxmlformats.org/officeDocument/2006/relationships/image" Target="../media/image16.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17.png"/><Relationship Id="rId13" Type="http://schemas.openxmlformats.org/officeDocument/2006/relationships/image" Target="../media/image7.png"/><Relationship Id="rId12" Type="http://schemas.openxmlformats.org/officeDocument/2006/relationships/image" Target="../media/image25.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41.png"/><Relationship Id="rId7" Type="http://schemas.openxmlformats.org/officeDocument/2006/relationships/image" Target="../media/image1.png"/><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png"/><Relationship Id="rId7" Type="http://schemas.openxmlformats.org/officeDocument/2006/relationships/image" Target="../media/image18.png"/><Relationship Id="rId8"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1.png"/><Relationship Id="rId4" Type="http://schemas.openxmlformats.org/officeDocument/2006/relationships/image" Target="../media/image50.png"/><Relationship Id="rId5" Type="http://schemas.openxmlformats.org/officeDocument/2006/relationships/image" Target="../media/image32.png"/><Relationship Id="rId6" Type="http://schemas.openxmlformats.org/officeDocument/2006/relationships/image" Target="../media/image27.png"/><Relationship Id="rId7"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1.png"/><Relationship Id="rId7" Type="http://schemas.openxmlformats.org/officeDocument/2006/relationships/image" Target="../media/image33.png"/><Relationship Id="rId8" Type="http://schemas.openxmlformats.org/officeDocument/2006/relationships/image" Target="../media/image44.png"/></Relationships>
</file>

<file path=ppt/slides/_rels/slide7.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47.png"/><Relationship Id="rId13" Type="http://schemas.openxmlformats.org/officeDocument/2006/relationships/image" Target="../media/image39.png"/><Relationship Id="rId12" Type="http://schemas.openxmlformats.org/officeDocument/2006/relationships/image" Target="../media/image37.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34.png"/><Relationship Id="rId9" Type="http://schemas.openxmlformats.org/officeDocument/2006/relationships/image" Target="../media/image35.png"/><Relationship Id="rId5" Type="http://schemas.openxmlformats.org/officeDocument/2006/relationships/image" Target="../media/image38.png"/><Relationship Id="rId6" Type="http://schemas.openxmlformats.org/officeDocument/2006/relationships/image" Target="../media/image29.png"/><Relationship Id="rId7" Type="http://schemas.openxmlformats.org/officeDocument/2006/relationships/image" Target="../media/image1.png"/><Relationship Id="rId8" Type="http://schemas.openxmlformats.org/officeDocument/2006/relationships/image" Target="../media/image5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6.png"/><Relationship Id="rId5" Type="http://schemas.openxmlformats.org/officeDocument/2006/relationships/image" Target="../media/image1.png"/><Relationship Id="rId6" Type="http://schemas.openxmlformats.org/officeDocument/2006/relationships/image" Target="../media/image43.png"/><Relationship Id="rId7" Type="http://schemas.openxmlformats.org/officeDocument/2006/relationships/image" Target="../media/image49.png"/><Relationship Id="rId8" Type="http://schemas.openxmlformats.org/officeDocument/2006/relationships/image" Target="../media/image69.png"/></Relationships>
</file>

<file path=ppt/slides/_rels/slide9.xml.rels><?xml version="1.0" encoding="UTF-8" standalone="yes"?><Relationships xmlns="http://schemas.openxmlformats.org/package/2006/relationships"><Relationship Id="rId10" Type="http://schemas.openxmlformats.org/officeDocument/2006/relationships/image" Target="../media/image48.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0.png"/><Relationship Id="rId9" Type="http://schemas.openxmlformats.org/officeDocument/2006/relationships/image" Target="../media/image64.png"/><Relationship Id="rId5" Type="http://schemas.openxmlformats.org/officeDocument/2006/relationships/image" Target="../media/image1.png"/><Relationship Id="rId6" Type="http://schemas.openxmlformats.org/officeDocument/2006/relationships/image" Target="../media/image42.png"/><Relationship Id="rId7" Type="http://schemas.openxmlformats.org/officeDocument/2006/relationships/image" Target="../media/image53.png"/><Relationship Id="rId8"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7.png"/><Relationship Id="rId5" Type="http://schemas.openxmlformats.org/officeDocument/2006/relationships/image" Target="../media/image46.png"/><Relationship Id="rId6" Type="http://schemas.openxmlformats.org/officeDocument/2006/relationships/image" Target="../media/image57.png"/><Relationship Id="rId7" Type="http://schemas.openxmlformats.org/officeDocument/2006/relationships/image" Target="../media/image65.png"/><Relationship Id="rId8" Type="http://schemas.openxmlformats.org/officeDocument/2006/relationships/image" Target="../media/image6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51.png"/><Relationship Id="rId5" Type="http://schemas.openxmlformats.org/officeDocument/2006/relationships/image" Target="../media/image58.png"/><Relationship Id="rId6" Type="http://schemas.openxmlformats.org/officeDocument/2006/relationships/image" Target="../media/image56.png"/><Relationship Id="rId7" Type="http://schemas.openxmlformats.org/officeDocument/2006/relationships/image" Target="../media/image5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66.png"/><Relationship Id="rId5" Type="http://schemas.openxmlformats.org/officeDocument/2006/relationships/image" Target="../media/image74.png"/><Relationship Id="rId6" Type="http://schemas.openxmlformats.org/officeDocument/2006/relationships/image" Target="../media/image54.png"/><Relationship Id="rId7" Type="http://schemas.openxmlformats.org/officeDocument/2006/relationships/image" Target="../media/image62.png"/><Relationship Id="rId8" Type="http://schemas.openxmlformats.org/officeDocument/2006/relationships/image" Target="../media/image8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1" Type="http://schemas.openxmlformats.org/officeDocument/2006/relationships/image" Target="../media/image68.png"/><Relationship Id="rId10" Type="http://schemas.openxmlformats.org/officeDocument/2006/relationships/image" Target="../media/image88.png"/><Relationship Id="rId13" Type="http://schemas.openxmlformats.org/officeDocument/2006/relationships/image" Target="../media/image78.png"/><Relationship Id="rId12" Type="http://schemas.openxmlformats.org/officeDocument/2006/relationships/image" Target="../media/image72.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55.png"/><Relationship Id="rId9" Type="http://schemas.openxmlformats.org/officeDocument/2006/relationships/image" Target="../media/image79.png"/><Relationship Id="rId5" Type="http://schemas.openxmlformats.org/officeDocument/2006/relationships/image" Target="../media/image61.png"/><Relationship Id="rId6" Type="http://schemas.openxmlformats.org/officeDocument/2006/relationships/image" Target="../media/image60.png"/><Relationship Id="rId7" Type="http://schemas.openxmlformats.org/officeDocument/2006/relationships/image" Target="../media/image1.png"/><Relationship Id="rId8"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70.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1" Type="http://schemas.openxmlformats.org/officeDocument/2006/relationships/image" Target="../media/image77.png"/><Relationship Id="rId10" Type="http://schemas.openxmlformats.org/officeDocument/2006/relationships/image" Target="../media/image80.png"/><Relationship Id="rId13" Type="http://schemas.openxmlformats.org/officeDocument/2006/relationships/image" Target="../media/image81.png"/><Relationship Id="rId12" Type="http://schemas.openxmlformats.org/officeDocument/2006/relationships/image" Target="../media/image75.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73.png"/><Relationship Id="rId9" Type="http://schemas.openxmlformats.org/officeDocument/2006/relationships/image" Target="../media/image88.png"/><Relationship Id="rId5" Type="http://schemas.openxmlformats.org/officeDocument/2006/relationships/image" Target="../media/image71.png"/><Relationship Id="rId6" Type="http://schemas.openxmlformats.org/officeDocument/2006/relationships/image" Target="../media/image91.png"/><Relationship Id="rId7" Type="http://schemas.openxmlformats.org/officeDocument/2006/relationships/image" Target="../media/image1.png"/><Relationship Id="rId8" Type="http://schemas.openxmlformats.org/officeDocument/2006/relationships/image" Target="../media/image8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76.png"/><Relationship Id="rId5" Type="http://schemas.openxmlformats.org/officeDocument/2006/relationships/image" Target="../media/image86.png"/><Relationship Id="rId6" Type="http://schemas.openxmlformats.org/officeDocument/2006/relationships/image" Target="../media/image8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90.png"/><Relationship Id="rId5" Type="http://schemas.openxmlformats.org/officeDocument/2006/relationships/image" Target="../media/image83.png"/><Relationship Id="rId6" Type="http://schemas.openxmlformats.org/officeDocument/2006/relationships/image" Target="../media/image1.png"/><Relationship Id="rId7" Type="http://schemas.openxmlformats.org/officeDocument/2006/relationships/image" Target="../media/image85.png"/><Relationship Id="rId8" Type="http://schemas.openxmlformats.org/officeDocument/2006/relationships/image" Target="../media/image8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810464" y="2224236"/>
            <a:ext cx="8571071" cy="63996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200" u="none" cap="none" strike="noStrike">
                <a:solidFill>
                  <a:srgbClr val="1E3A8A"/>
                </a:solidFill>
                <a:latin typeface="Playfair Display"/>
                <a:ea typeface="Playfair Display"/>
                <a:cs typeface="Playfair Display"/>
                <a:sym typeface="Playfair Display"/>
              </a:rPr>
              <a:t>TEST PROCESS IMPROVEMENT</a:t>
            </a:r>
            <a:endParaRPr/>
          </a:p>
        </p:txBody>
      </p:sp>
      <p:sp>
        <p:nvSpPr>
          <p:cNvPr id="87" name="Google Shape;87;p13"/>
          <p:cNvSpPr txBox="1"/>
          <p:nvPr/>
        </p:nvSpPr>
        <p:spPr>
          <a:xfrm>
            <a:off x="1810464" y="3054697"/>
            <a:ext cx="8571071"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400" u="none" cap="none" strike="noStrike">
                <a:solidFill>
                  <a:srgbClr val="475569"/>
                </a:solidFill>
                <a:latin typeface="Inter Medium"/>
                <a:ea typeface="Inter Medium"/>
                <a:cs typeface="Inter Medium"/>
                <a:sym typeface="Inter Medium"/>
              </a:rPr>
              <a:t>CHO NHÓM PHÁT TRIỂN PHẦN MỀM VỪA VÀ NHỎ</a:t>
            </a:r>
            <a:endParaRPr/>
          </a:p>
        </p:txBody>
      </p:sp>
      <p:sp>
        <p:nvSpPr>
          <p:cNvPr id="88" name="Google Shape;88;p13"/>
          <p:cNvSpPr/>
          <p:nvPr/>
        </p:nvSpPr>
        <p:spPr>
          <a:xfrm>
            <a:off x="5715000" y="3711922"/>
            <a:ext cx="762000" cy="3810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txBox="1"/>
          <p:nvPr/>
        </p:nvSpPr>
        <p:spPr>
          <a:xfrm>
            <a:off x="2014537" y="4035772"/>
            <a:ext cx="8163000" cy="254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1E3A8A"/>
                </a:solidFill>
                <a:latin typeface="Inter SemiBold"/>
                <a:ea typeface="Inter SemiBold"/>
                <a:cs typeface="Inter SemiBold"/>
                <a:sym typeface="Inter SemiBold"/>
              </a:rPr>
              <a:t>Nguyễn Trung Hiếu - K58KTP</a:t>
            </a:r>
            <a:endParaRPr/>
          </a:p>
        </p:txBody>
      </p:sp>
      <p:sp>
        <p:nvSpPr>
          <p:cNvPr id="90" name="Google Shape;90;p13"/>
          <p:cNvSpPr txBox="1"/>
          <p:nvPr/>
        </p:nvSpPr>
        <p:spPr>
          <a:xfrm>
            <a:off x="2014537" y="4466183"/>
            <a:ext cx="8162925"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Thái Nguyên,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pic>
        <p:nvPicPr>
          <p:cNvPr descr="image.png" id="95" name="Google Shape;95;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6" name="Google Shape;96;p14"/>
          <p:cNvPicPr preferRelativeResize="0"/>
          <p:nvPr/>
        </p:nvPicPr>
        <p:blipFill rotWithShape="1">
          <a:blip r:embed="rId4">
            <a:alphaModFix/>
          </a:blip>
          <a:srcRect b="0" l="0" r="0" t="0"/>
          <a:stretch/>
        </p:blipFill>
        <p:spPr>
          <a:xfrm>
            <a:off x="571500" y="2278558"/>
            <a:ext cx="2547937" cy="3405782"/>
          </a:xfrm>
          <a:prstGeom prst="rect">
            <a:avLst/>
          </a:prstGeom>
          <a:noFill/>
          <a:ln>
            <a:noFill/>
          </a:ln>
        </p:spPr>
      </p:pic>
      <p:pic>
        <p:nvPicPr>
          <p:cNvPr descr="image.png" id="97" name="Google Shape;97;p14"/>
          <p:cNvPicPr preferRelativeResize="0"/>
          <p:nvPr/>
        </p:nvPicPr>
        <p:blipFill rotWithShape="1">
          <a:blip r:embed="rId5">
            <a:alphaModFix/>
          </a:blip>
          <a:srcRect b="0" l="0" r="0" t="0"/>
          <a:stretch/>
        </p:blipFill>
        <p:spPr>
          <a:xfrm>
            <a:off x="3405187" y="2278558"/>
            <a:ext cx="2547937" cy="3405782"/>
          </a:xfrm>
          <a:prstGeom prst="rect">
            <a:avLst/>
          </a:prstGeom>
          <a:noFill/>
          <a:ln>
            <a:noFill/>
          </a:ln>
        </p:spPr>
      </p:pic>
      <p:pic>
        <p:nvPicPr>
          <p:cNvPr descr="image.png" id="98" name="Google Shape;98;p14"/>
          <p:cNvPicPr preferRelativeResize="0"/>
          <p:nvPr/>
        </p:nvPicPr>
        <p:blipFill rotWithShape="1">
          <a:blip r:embed="rId6">
            <a:alphaModFix/>
          </a:blip>
          <a:srcRect b="0" l="0" r="0" t="0"/>
          <a:stretch/>
        </p:blipFill>
        <p:spPr>
          <a:xfrm>
            <a:off x="6238875" y="2278558"/>
            <a:ext cx="2547937" cy="3405782"/>
          </a:xfrm>
          <a:prstGeom prst="rect">
            <a:avLst/>
          </a:prstGeom>
          <a:noFill/>
          <a:ln>
            <a:noFill/>
          </a:ln>
        </p:spPr>
      </p:pic>
      <p:pic>
        <p:nvPicPr>
          <p:cNvPr descr="image.png" id="99" name="Google Shape;99;p14"/>
          <p:cNvPicPr preferRelativeResize="0"/>
          <p:nvPr/>
        </p:nvPicPr>
        <p:blipFill rotWithShape="1">
          <a:blip r:embed="rId7">
            <a:alphaModFix/>
          </a:blip>
          <a:srcRect b="0" l="0" r="0" t="0"/>
          <a:stretch/>
        </p:blipFill>
        <p:spPr>
          <a:xfrm>
            <a:off x="9072562" y="2278558"/>
            <a:ext cx="2547937" cy="3405782"/>
          </a:xfrm>
          <a:prstGeom prst="rect">
            <a:avLst/>
          </a:prstGeom>
          <a:noFill/>
          <a:ln>
            <a:noFill/>
          </a:ln>
        </p:spPr>
      </p:pic>
      <p:pic>
        <p:nvPicPr>
          <p:cNvPr descr="image.png" id="100" name="Google Shape;100;p14"/>
          <p:cNvPicPr preferRelativeResize="0"/>
          <p:nvPr/>
        </p:nvPicPr>
        <p:blipFill rotWithShape="1">
          <a:blip r:embed="rId8">
            <a:alphaModFix/>
          </a:blip>
          <a:srcRect b="0" l="0" r="0" t="0"/>
          <a:stretch/>
        </p:blipFill>
        <p:spPr>
          <a:xfrm>
            <a:off x="571500" y="6257925"/>
            <a:ext cx="11049000" cy="314325"/>
          </a:xfrm>
          <a:prstGeom prst="rect">
            <a:avLst/>
          </a:prstGeom>
          <a:noFill/>
          <a:ln>
            <a:noFill/>
          </a:ln>
        </p:spPr>
      </p:pic>
      <p:sp>
        <p:nvSpPr>
          <p:cNvPr id="101" name="Google Shape;101;p14"/>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4"/>
          <p:cNvSpPr txBox="1"/>
          <p:nvPr/>
        </p:nvSpPr>
        <p:spPr>
          <a:xfrm>
            <a:off x="571500" y="6410325"/>
            <a:ext cx="31506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Đảm bảo chất lượng &amp; Kiểm thử phần mềm</a:t>
            </a:r>
            <a:endParaRPr/>
          </a:p>
        </p:txBody>
      </p:sp>
      <p:pic>
        <p:nvPicPr>
          <p:cNvPr descr="image.png" id="103" name="Google Shape;103;p14"/>
          <p:cNvPicPr preferRelativeResize="0"/>
          <p:nvPr/>
        </p:nvPicPr>
        <p:blipFill rotWithShape="1">
          <a:blip r:embed="rId9">
            <a:alphaModFix/>
          </a:blip>
          <a:srcRect b="0" l="0" r="0" t="0"/>
          <a:stretch/>
        </p:blipFill>
        <p:spPr>
          <a:xfrm>
            <a:off x="819150" y="2621458"/>
            <a:ext cx="666750" cy="666750"/>
          </a:xfrm>
          <a:prstGeom prst="rect">
            <a:avLst/>
          </a:prstGeom>
          <a:noFill/>
          <a:ln>
            <a:noFill/>
          </a:ln>
        </p:spPr>
      </p:pic>
      <p:sp>
        <p:nvSpPr>
          <p:cNvPr id="104" name="Google Shape;104;p14"/>
          <p:cNvSpPr txBox="1"/>
          <p:nvPr/>
        </p:nvSpPr>
        <p:spPr>
          <a:xfrm>
            <a:off x="819150" y="3478708"/>
            <a:ext cx="2155269"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1. Giới thiệu đề tài</a:t>
            </a:r>
            <a:endParaRPr/>
          </a:p>
        </p:txBody>
      </p:sp>
      <p:sp>
        <p:nvSpPr>
          <p:cNvPr id="105" name="Google Shape;105;p14"/>
          <p:cNvSpPr txBox="1"/>
          <p:nvPr/>
        </p:nvSpPr>
        <p:spPr>
          <a:xfrm>
            <a:off x="819150" y="4183558"/>
            <a:ext cx="2052637"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Tầm quan trọng, mục tiêu và phạm vi nghiên cứu của đề tài.</a:t>
            </a:r>
            <a:endParaRPr/>
          </a:p>
        </p:txBody>
      </p:sp>
      <p:pic>
        <p:nvPicPr>
          <p:cNvPr descr="image.png" id="106" name="Google Shape;106;p14"/>
          <p:cNvPicPr preferRelativeResize="0"/>
          <p:nvPr/>
        </p:nvPicPr>
        <p:blipFill rotWithShape="1">
          <a:blip r:embed="rId10">
            <a:alphaModFix/>
          </a:blip>
          <a:srcRect b="0" l="0" r="0" t="0"/>
          <a:stretch/>
        </p:blipFill>
        <p:spPr>
          <a:xfrm>
            <a:off x="3652837" y="2621458"/>
            <a:ext cx="666750" cy="666750"/>
          </a:xfrm>
          <a:prstGeom prst="rect">
            <a:avLst/>
          </a:prstGeom>
          <a:noFill/>
          <a:ln>
            <a:noFill/>
          </a:ln>
        </p:spPr>
      </p:pic>
      <p:sp>
        <p:nvSpPr>
          <p:cNvPr id="107" name="Google Shape;107;p14"/>
          <p:cNvSpPr txBox="1"/>
          <p:nvPr/>
        </p:nvSpPr>
        <p:spPr>
          <a:xfrm>
            <a:off x="3652837" y="3478708"/>
            <a:ext cx="2155269"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2. Cơ sở lý thuyết</a:t>
            </a:r>
            <a:endParaRPr/>
          </a:p>
        </p:txBody>
      </p:sp>
      <p:sp>
        <p:nvSpPr>
          <p:cNvPr id="108" name="Google Shape;108;p14"/>
          <p:cNvSpPr txBox="1"/>
          <p:nvPr/>
        </p:nvSpPr>
        <p:spPr>
          <a:xfrm>
            <a:off x="3652837" y="4183558"/>
            <a:ext cx="2052637"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Khung đánh giá TPI, TMMi, Lean Testing, Metrics &amp; Feedback Loops.</a:t>
            </a:r>
            <a:endParaRPr/>
          </a:p>
        </p:txBody>
      </p:sp>
      <p:pic>
        <p:nvPicPr>
          <p:cNvPr descr="image.png" id="109" name="Google Shape;109;p14"/>
          <p:cNvPicPr preferRelativeResize="0"/>
          <p:nvPr/>
        </p:nvPicPr>
        <p:blipFill rotWithShape="1">
          <a:blip r:embed="rId9">
            <a:alphaModFix/>
          </a:blip>
          <a:srcRect b="0" l="0" r="0" t="0"/>
          <a:stretch/>
        </p:blipFill>
        <p:spPr>
          <a:xfrm>
            <a:off x="6486525" y="2621458"/>
            <a:ext cx="666750" cy="666750"/>
          </a:xfrm>
          <a:prstGeom prst="rect">
            <a:avLst/>
          </a:prstGeom>
          <a:noFill/>
          <a:ln>
            <a:noFill/>
          </a:ln>
        </p:spPr>
      </p:pic>
      <p:sp>
        <p:nvSpPr>
          <p:cNvPr id="110" name="Google Shape;110;p14"/>
          <p:cNvSpPr txBox="1"/>
          <p:nvPr/>
        </p:nvSpPr>
        <p:spPr>
          <a:xfrm>
            <a:off x="6486525" y="3478708"/>
            <a:ext cx="2155269"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3. Vận dụng thực hành</a:t>
            </a:r>
            <a:endParaRPr/>
          </a:p>
        </p:txBody>
      </p:sp>
      <p:sp>
        <p:nvSpPr>
          <p:cNvPr id="111" name="Google Shape;111;p14"/>
          <p:cNvSpPr txBox="1"/>
          <p:nvPr/>
        </p:nvSpPr>
        <p:spPr>
          <a:xfrm>
            <a:off x="6486525" y="4183558"/>
            <a:ext cx="2052637"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Đề xuất lộ trình cải tiến và đánh giá kết quả áp dụng thực tế.</a:t>
            </a:r>
            <a:endParaRPr/>
          </a:p>
        </p:txBody>
      </p:sp>
      <p:pic>
        <p:nvPicPr>
          <p:cNvPr descr="image.png" id="112" name="Google Shape;112;p14"/>
          <p:cNvPicPr preferRelativeResize="0"/>
          <p:nvPr/>
        </p:nvPicPr>
        <p:blipFill rotWithShape="1">
          <a:blip r:embed="rId11">
            <a:alphaModFix/>
          </a:blip>
          <a:srcRect b="0" l="0" r="0" t="0"/>
          <a:stretch/>
        </p:blipFill>
        <p:spPr>
          <a:xfrm>
            <a:off x="9320212" y="2621458"/>
            <a:ext cx="666750" cy="666750"/>
          </a:xfrm>
          <a:prstGeom prst="rect">
            <a:avLst/>
          </a:prstGeom>
          <a:noFill/>
          <a:ln>
            <a:noFill/>
          </a:ln>
        </p:spPr>
      </p:pic>
      <p:sp>
        <p:nvSpPr>
          <p:cNvPr id="113" name="Google Shape;113;p14"/>
          <p:cNvSpPr txBox="1"/>
          <p:nvPr/>
        </p:nvSpPr>
        <p:spPr>
          <a:xfrm>
            <a:off x="9320212" y="3478708"/>
            <a:ext cx="2155269" cy="590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4. Kết luận &amp; Phát triển</a:t>
            </a:r>
            <a:endParaRPr/>
          </a:p>
        </p:txBody>
      </p:sp>
      <p:sp>
        <p:nvSpPr>
          <p:cNvPr id="114" name="Google Shape;114;p14"/>
          <p:cNvSpPr txBox="1"/>
          <p:nvPr/>
        </p:nvSpPr>
        <p:spPr>
          <a:xfrm>
            <a:off x="9320212" y="4183558"/>
            <a:ext cx="2052637"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Tổng kết hiệu quả, đánh giá hạn chế và đề xuất tương lai.</a:t>
            </a:r>
            <a:endParaRPr/>
          </a:p>
        </p:txBody>
      </p:sp>
      <p:pic>
        <p:nvPicPr>
          <p:cNvPr descr="image.png" id="115" name="Google Shape;115;p14"/>
          <p:cNvPicPr preferRelativeResize="0"/>
          <p:nvPr/>
        </p:nvPicPr>
        <p:blipFill rotWithShape="1">
          <a:blip r:embed="rId12">
            <a:alphaModFix/>
          </a:blip>
          <a:srcRect b="0" l="0" r="0" t="0"/>
          <a:stretch/>
        </p:blipFill>
        <p:spPr>
          <a:xfrm>
            <a:off x="995362" y="2773858"/>
            <a:ext cx="314325" cy="361950"/>
          </a:xfrm>
          <a:prstGeom prst="rect">
            <a:avLst/>
          </a:prstGeom>
          <a:noFill/>
          <a:ln>
            <a:noFill/>
          </a:ln>
        </p:spPr>
      </p:pic>
      <p:pic>
        <p:nvPicPr>
          <p:cNvPr descr="image.png" id="116" name="Google Shape;116;p14"/>
          <p:cNvPicPr preferRelativeResize="0"/>
          <p:nvPr/>
        </p:nvPicPr>
        <p:blipFill rotWithShape="1">
          <a:blip r:embed="rId13">
            <a:alphaModFix/>
          </a:blip>
          <a:srcRect b="0" l="0" r="0" t="0"/>
          <a:stretch/>
        </p:blipFill>
        <p:spPr>
          <a:xfrm>
            <a:off x="3781425" y="2773858"/>
            <a:ext cx="409575" cy="361950"/>
          </a:xfrm>
          <a:prstGeom prst="rect">
            <a:avLst/>
          </a:prstGeom>
          <a:noFill/>
          <a:ln>
            <a:noFill/>
          </a:ln>
        </p:spPr>
      </p:pic>
      <p:pic>
        <p:nvPicPr>
          <p:cNvPr descr="image.png" id="117" name="Google Shape;117;p14"/>
          <p:cNvPicPr preferRelativeResize="0"/>
          <p:nvPr/>
        </p:nvPicPr>
        <p:blipFill rotWithShape="1">
          <a:blip r:embed="rId14">
            <a:alphaModFix/>
          </a:blip>
          <a:srcRect b="0" l="0" r="0" t="0"/>
          <a:stretch/>
        </p:blipFill>
        <p:spPr>
          <a:xfrm>
            <a:off x="6591300" y="2773858"/>
            <a:ext cx="457200" cy="361950"/>
          </a:xfrm>
          <a:prstGeom prst="rect">
            <a:avLst/>
          </a:prstGeom>
          <a:noFill/>
          <a:ln>
            <a:noFill/>
          </a:ln>
        </p:spPr>
      </p:pic>
      <p:pic>
        <p:nvPicPr>
          <p:cNvPr descr="image.png" id="118" name="Google Shape;118;p14"/>
          <p:cNvPicPr preferRelativeResize="0"/>
          <p:nvPr/>
        </p:nvPicPr>
        <p:blipFill rotWithShape="1">
          <a:blip r:embed="rId15">
            <a:alphaModFix/>
          </a:blip>
          <a:srcRect b="0" l="0" r="0" t="0"/>
          <a:stretch/>
        </p:blipFill>
        <p:spPr>
          <a:xfrm>
            <a:off x="9472612" y="2773858"/>
            <a:ext cx="361950" cy="361950"/>
          </a:xfrm>
          <a:prstGeom prst="rect">
            <a:avLst/>
          </a:prstGeom>
          <a:noFill/>
          <a:ln>
            <a:noFill/>
          </a:ln>
        </p:spPr>
      </p:pic>
      <p:sp>
        <p:nvSpPr>
          <p:cNvPr id="119" name="Google Shape;119;p14"/>
          <p:cNvSpPr txBox="1"/>
          <p:nvPr/>
        </p:nvSpPr>
        <p:spPr>
          <a:xfrm>
            <a:off x="571500" y="552450"/>
            <a:ext cx="1160145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NỘI DUNG CHÍNH</a:t>
            </a:r>
            <a:endParaRPr/>
          </a:p>
        </p:txBody>
      </p:sp>
      <p:sp>
        <p:nvSpPr>
          <p:cNvPr id="120" name="Google Shape;120;p14"/>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pic>
        <p:nvPicPr>
          <p:cNvPr descr="image.png" id="125" name="Google Shape;12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6" name="Google Shape;126;p15"/>
          <p:cNvPicPr preferRelativeResize="0"/>
          <p:nvPr/>
        </p:nvPicPr>
        <p:blipFill rotWithShape="1">
          <a:blip r:embed="rId4">
            <a:alphaModFix/>
          </a:blip>
          <a:srcRect b="0" l="0" r="0" t="0"/>
          <a:stretch/>
        </p:blipFill>
        <p:spPr>
          <a:xfrm>
            <a:off x="571500" y="2267098"/>
            <a:ext cx="3492549" cy="3428553"/>
          </a:xfrm>
          <a:prstGeom prst="rect">
            <a:avLst/>
          </a:prstGeom>
          <a:noFill/>
          <a:ln>
            <a:noFill/>
          </a:ln>
        </p:spPr>
      </p:pic>
      <p:pic>
        <p:nvPicPr>
          <p:cNvPr descr="image.png" id="127" name="Google Shape;127;p15"/>
          <p:cNvPicPr preferRelativeResize="0"/>
          <p:nvPr/>
        </p:nvPicPr>
        <p:blipFill rotWithShape="1">
          <a:blip r:embed="rId5">
            <a:alphaModFix/>
          </a:blip>
          <a:srcRect b="0" l="0" r="0" t="0"/>
          <a:stretch/>
        </p:blipFill>
        <p:spPr>
          <a:xfrm>
            <a:off x="4349799" y="2267098"/>
            <a:ext cx="3492549" cy="3428553"/>
          </a:xfrm>
          <a:prstGeom prst="rect">
            <a:avLst/>
          </a:prstGeom>
          <a:noFill/>
          <a:ln>
            <a:noFill/>
          </a:ln>
        </p:spPr>
      </p:pic>
      <p:pic>
        <p:nvPicPr>
          <p:cNvPr descr="image.png" id="128" name="Google Shape;128;p15"/>
          <p:cNvPicPr preferRelativeResize="0"/>
          <p:nvPr/>
        </p:nvPicPr>
        <p:blipFill rotWithShape="1">
          <a:blip r:embed="rId6">
            <a:alphaModFix/>
          </a:blip>
          <a:srcRect b="0" l="0" r="0" t="0"/>
          <a:stretch/>
        </p:blipFill>
        <p:spPr>
          <a:xfrm>
            <a:off x="8128099" y="2267098"/>
            <a:ext cx="3492549" cy="3428553"/>
          </a:xfrm>
          <a:prstGeom prst="rect">
            <a:avLst/>
          </a:prstGeom>
          <a:noFill/>
          <a:ln>
            <a:noFill/>
          </a:ln>
        </p:spPr>
      </p:pic>
      <p:pic>
        <p:nvPicPr>
          <p:cNvPr descr="image.png" id="129" name="Google Shape;129;p15"/>
          <p:cNvPicPr preferRelativeResize="0"/>
          <p:nvPr/>
        </p:nvPicPr>
        <p:blipFill rotWithShape="1">
          <a:blip r:embed="rId7">
            <a:alphaModFix/>
          </a:blip>
          <a:srcRect b="0" l="0" r="0" t="0"/>
          <a:stretch/>
        </p:blipFill>
        <p:spPr>
          <a:xfrm>
            <a:off x="571500" y="6257925"/>
            <a:ext cx="11049000" cy="314325"/>
          </a:xfrm>
          <a:prstGeom prst="rect">
            <a:avLst/>
          </a:prstGeom>
          <a:noFill/>
          <a:ln>
            <a:noFill/>
          </a:ln>
        </p:spPr>
      </p:pic>
      <p:sp>
        <p:nvSpPr>
          <p:cNvPr id="130" name="Google Shape;130;p15"/>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5"/>
          <p:cNvSpPr txBox="1"/>
          <p:nvPr/>
        </p:nvSpPr>
        <p:spPr>
          <a:xfrm>
            <a:off x="571500" y="6410325"/>
            <a:ext cx="3389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Đảm bảo chất lượng &amp; Kiểm thử phần mềm</a:t>
            </a:r>
            <a:endParaRPr/>
          </a:p>
        </p:txBody>
      </p:sp>
      <p:pic>
        <p:nvPicPr>
          <p:cNvPr descr="image.png" id="132" name="Google Shape;132;p15"/>
          <p:cNvPicPr preferRelativeResize="0"/>
          <p:nvPr/>
        </p:nvPicPr>
        <p:blipFill rotWithShape="1">
          <a:blip r:embed="rId8">
            <a:alphaModFix/>
          </a:blip>
          <a:srcRect b="0" l="0" r="0" t="0"/>
          <a:stretch/>
        </p:blipFill>
        <p:spPr>
          <a:xfrm>
            <a:off x="819150" y="2638573"/>
            <a:ext cx="666750" cy="666750"/>
          </a:xfrm>
          <a:prstGeom prst="rect">
            <a:avLst/>
          </a:prstGeom>
          <a:noFill/>
          <a:ln>
            <a:noFill/>
          </a:ln>
        </p:spPr>
      </p:pic>
      <p:sp>
        <p:nvSpPr>
          <p:cNvPr id="133" name="Google Shape;133;p15"/>
          <p:cNvSpPr txBox="1"/>
          <p:nvPr/>
        </p:nvSpPr>
        <p:spPr>
          <a:xfrm>
            <a:off x="819150" y="3495823"/>
            <a:ext cx="2100262"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Tầm Quan Trọng</a:t>
            </a:r>
            <a:endParaRPr/>
          </a:p>
        </p:txBody>
      </p:sp>
      <p:sp>
        <p:nvSpPr>
          <p:cNvPr id="134" name="Google Shape;134;p15"/>
          <p:cNvSpPr txBox="1"/>
          <p:nvPr/>
        </p:nvSpPr>
        <p:spPr>
          <a:xfrm>
            <a:off x="819150" y="3905398"/>
            <a:ext cx="2997249" cy="1447353"/>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Chất lượng phần mềm là yếu tố sống còn trong kỷ nguyên số. Lỗi phần mềm gây thiệt hại lớn về tài chính và uy tín của doanh nghiệp trên thị trường.</a:t>
            </a:r>
            <a:endParaRPr/>
          </a:p>
        </p:txBody>
      </p:sp>
      <p:pic>
        <p:nvPicPr>
          <p:cNvPr descr="image.png" id="135" name="Google Shape;135;p15"/>
          <p:cNvPicPr preferRelativeResize="0"/>
          <p:nvPr/>
        </p:nvPicPr>
        <p:blipFill rotWithShape="1">
          <a:blip r:embed="rId9">
            <a:alphaModFix/>
          </a:blip>
          <a:srcRect b="0" l="0" r="0" t="0"/>
          <a:stretch/>
        </p:blipFill>
        <p:spPr>
          <a:xfrm>
            <a:off x="4597449" y="2638573"/>
            <a:ext cx="666750" cy="666750"/>
          </a:xfrm>
          <a:prstGeom prst="rect">
            <a:avLst/>
          </a:prstGeom>
          <a:noFill/>
          <a:ln>
            <a:noFill/>
          </a:ln>
        </p:spPr>
      </p:pic>
      <p:sp>
        <p:nvSpPr>
          <p:cNvPr id="136" name="Google Shape;136;p15"/>
          <p:cNvSpPr txBox="1"/>
          <p:nvPr/>
        </p:nvSpPr>
        <p:spPr>
          <a:xfrm>
            <a:off x="4597449" y="3495823"/>
            <a:ext cx="2230278"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Thực Trạng SMEs</a:t>
            </a:r>
            <a:endParaRPr/>
          </a:p>
        </p:txBody>
      </p:sp>
      <p:sp>
        <p:nvSpPr>
          <p:cNvPr id="137" name="Google Shape;137;p15"/>
          <p:cNvSpPr txBox="1"/>
          <p:nvPr/>
        </p:nvSpPr>
        <p:spPr>
          <a:xfrm>
            <a:off x="4597449" y="3905398"/>
            <a:ext cx="2997249" cy="1447353"/>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Nhóm SMEs thường áp dụng kiểm thử ad-hoc, thiếu hệ thống. Hậu quả là lỗi phát hiện muộn, tái phát liên tục, tăng chi phí bảo trì và giảm niềm tin.</a:t>
            </a:r>
            <a:endParaRPr/>
          </a:p>
        </p:txBody>
      </p:sp>
      <p:pic>
        <p:nvPicPr>
          <p:cNvPr descr="image.png" id="138" name="Google Shape;138;p15"/>
          <p:cNvPicPr preferRelativeResize="0"/>
          <p:nvPr/>
        </p:nvPicPr>
        <p:blipFill rotWithShape="1">
          <a:blip r:embed="rId10">
            <a:alphaModFix/>
          </a:blip>
          <a:srcRect b="0" l="0" r="0" t="0"/>
          <a:stretch/>
        </p:blipFill>
        <p:spPr>
          <a:xfrm>
            <a:off x="8375749" y="2638573"/>
            <a:ext cx="666750" cy="666750"/>
          </a:xfrm>
          <a:prstGeom prst="rect">
            <a:avLst/>
          </a:prstGeom>
          <a:noFill/>
          <a:ln>
            <a:noFill/>
          </a:ln>
        </p:spPr>
      </p:pic>
      <p:sp>
        <p:nvSpPr>
          <p:cNvPr id="139" name="Google Shape;139;p15"/>
          <p:cNvSpPr txBox="1"/>
          <p:nvPr/>
        </p:nvSpPr>
        <p:spPr>
          <a:xfrm>
            <a:off x="8375749" y="3495823"/>
            <a:ext cx="2270283"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Giải Pháp Đề Xuất</a:t>
            </a:r>
            <a:endParaRPr/>
          </a:p>
        </p:txBody>
      </p:sp>
      <p:sp>
        <p:nvSpPr>
          <p:cNvPr id="140" name="Google Shape;140;p15"/>
          <p:cNvSpPr txBox="1"/>
          <p:nvPr/>
        </p:nvSpPr>
        <p:spPr>
          <a:xfrm>
            <a:off x="8375749" y="3905398"/>
            <a:ext cx="2997249" cy="1447353"/>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Cải tiến quy trình kiểm thử (TPI) giúp các nhóm nhỏ tối ưu nguồn lực, nâng cao hiệu quả và chất lượng sản phẩm phần mềm một cách bền vững.</a:t>
            </a:r>
            <a:endParaRPr/>
          </a:p>
        </p:txBody>
      </p:sp>
      <p:pic>
        <p:nvPicPr>
          <p:cNvPr descr="image.png" id="141" name="Google Shape;141;p15"/>
          <p:cNvPicPr preferRelativeResize="0"/>
          <p:nvPr/>
        </p:nvPicPr>
        <p:blipFill rotWithShape="1">
          <a:blip r:embed="rId11">
            <a:alphaModFix/>
          </a:blip>
          <a:srcRect b="0" l="0" r="0" t="0"/>
          <a:stretch/>
        </p:blipFill>
        <p:spPr>
          <a:xfrm>
            <a:off x="971550" y="2790973"/>
            <a:ext cx="361950" cy="361950"/>
          </a:xfrm>
          <a:prstGeom prst="rect">
            <a:avLst/>
          </a:prstGeom>
          <a:noFill/>
          <a:ln>
            <a:noFill/>
          </a:ln>
        </p:spPr>
      </p:pic>
      <p:pic>
        <p:nvPicPr>
          <p:cNvPr descr="image.png" id="142" name="Google Shape;142;p15"/>
          <p:cNvPicPr preferRelativeResize="0"/>
          <p:nvPr/>
        </p:nvPicPr>
        <p:blipFill rotWithShape="1">
          <a:blip r:embed="rId12">
            <a:alphaModFix/>
          </a:blip>
          <a:srcRect b="0" l="0" r="0" t="0"/>
          <a:stretch/>
        </p:blipFill>
        <p:spPr>
          <a:xfrm>
            <a:off x="4749849" y="2790973"/>
            <a:ext cx="361950" cy="361950"/>
          </a:xfrm>
          <a:prstGeom prst="rect">
            <a:avLst/>
          </a:prstGeom>
          <a:noFill/>
          <a:ln>
            <a:noFill/>
          </a:ln>
        </p:spPr>
      </p:pic>
      <p:pic>
        <p:nvPicPr>
          <p:cNvPr descr="image.png" id="143" name="Google Shape;143;p15"/>
          <p:cNvPicPr preferRelativeResize="0"/>
          <p:nvPr/>
        </p:nvPicPr>
        <p:blipFill rotWithShape="1">
          <a:blip r:embed="rId13">
            <a:alphaModFix/>
          </a:blip>
          <a:srcRect b="0" l="0" r="0" t="0"/>
          <a:stretch/>
        </p:blipFill>
        <p:spPr>
          <a:xfrm>
            <a:off x="8571011" y="2790973"/>
            <a:ext cx="276225" cy="361950"/>
          </a:xfrm>
          <a:prstGeom prst="rect">
            <a:avLst/>
          </a:prstGeom>
          <a:noFill/>
          <a:ln>
            <a:noFill/>
          </a:ln>
        </p:spPr>
      </p:pic>
      <p:sp>
        <p:nvSpPr>
          <p:cNvPr id="144" name="Google Shape;144;p15"/>
          <p:cNvSpPr txBox="1"/>
          <p:nvPr/>
        </p:nvSpPr>
        <p:spPr>
          <a:xfrm>
            <a:off x="571500" y="552450"/>
            <a:ext cx="1160145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LÝ DO CHỌN ĐỀ TÀI</a:t>
            </a:r>
            <a:endParaRPr/>
          </a:p>
        </p:txBody>
      </p:sp>
      <p:sp>
        <p:nvSpPr>
          <p:cNvPr id="145" name="Google Shape;145;p15"/>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6"/>
          <p:cNvPicPr preferRelativeResize="0"/>
          <p:nvPr/>
        </p:nvPicPr>
        <p:blipFill rotWithShape="1">
          <a:blip r:embed="rId4">
            <a:alphaModFix/>
          </a:blip>
          <a:srcRect b="0" l="0" r="0" t="0"/>
          <a:stretch/>
        </p:blipFill>
        <p:spPr>
          <a:xfrm>
            <a:off x="571500" y="1804392"/>
            <a:ext cx="5238750" cy="4354115"/>
          </a:xfrm>
          <a:prstGeom prst="rect">
            <a:avLst/>
          </a:prstGeom>
          <a:noFill/>
          <a:ln>
            <a:noFill/>
          </a:ln>
        </p:spPr>
      </p:pic>
      <p:pic>
        <p:nvPicPr>
          <p:cNvPr descr="image.png" id="152" name="Google Shape;152;p16"/>
          <p:cNvPicPr preferRelativeResize="0"/>
          <p:nvPr/>
        </p:nvPicPr>
        <p:blipFill rotWithShape="1">
          <a:blip r:embed="rId5">
            <a:alphaModFix/>
          </a:blip>
          <a:srcRect b="0" l="0" r="0" t="0"/>
          <a:stretch/>
        </p:blipFill>
        <p:spPr>
          <a:xfrm>
            <a:off x="6381750" y="1804392"/>
            <a:ext cx="5238750" cy="4354115"/>
          </a:xfrm>
          <a:prstGeom prst="rect">
            <a:avLst/>
          </a:prstGeom>
          <a:noFill/>
          <a:ln>
            <a:noFill/>
          </a:ln>
        </p:spPr>
      </p:pic>
      <p:pic>
        <p:nvPicPr>
          <p:cNvPr descr="image.png" id="153" name="Google Shape;153;p16"/>
          <p:cNvPicPr preferRelativeResize="0"/>
          <p:nvPr/>
        </p:nvPicPr>
        <p:blipFill rotWithShape="1">
          <a:blip r:embed="rId6">
            <a:alphaModFix/>
          </a:blip>
          <a:srcRect b="0" l="0" r="0" t="0"/>
          <a:stretch/>
        </p:blipFill>
        <p:spPr>
          <a:xfrm>
            <a:off x="571500" y="6257925"/>
            <a:ext cx="11049000" cy="314325"/>
          </a:xfrm>
          <a:prstGeom prst="rect">
            <a:avLst/>
          </a:prstGeom>
          <a:noFill/>
          <a:ln>
            <a:noFill/>
          </a:ln>
        </p:spPr>
      </p:pic>
      <p:sp>
        <p:nvSpPr>
          <p:cNvPr id="154" name="Google Shape;154;p16"/>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6"/>
          <p:cNvSpPr txBox="1"/>
          <p:nvPr/>
        </p:nvSpPr>
        <p:spPr>
          <a:xfrm>
            <a:off x="571500" y="6410325"/>
            <a:ext cx="32808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Đảm bảo chất lượng &amp; Kiểm thử phần mềm</a:t>
            </a:r>
            <a:endParaRPr/>
          </a:p>
        </p:txBody>
      </p:sp>
      <p:sp>
        <p:nvSpPr>
          <p:cNvPr id="156" name="Google Shape;156;p16"/>
          <p:cNvSpPr txBox="1"/>
          <p:nvPr/>
        </p:nvSpPr>
        <p:spPr>
          <a:xfrm>
            <a:off x="962025" y="2194917"/>
            <a:ext cx="4680585" cy="314325"/>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Mục Tiêu Nghiên Cứu</a:t>
            </a:r>
            <a:endParaRPr/>
          </a:p>
        </p:txBody>
      </p:sp>
      <p:sp>
        <p:nvSpPr>
          <p:cNvPr id="157" name="Google Shape;157;p16"/>
          <p:cNvSpPr/>
          <p:nvPr/>
        </p:nvSpPr>
        <p:spPr>
          <a:xfrm>
            <a:off x="962025" y="2633067"/>
            <a:ext cx="44577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6"/>
          <p:cNvSpPr txBox="1"/>
          <p:nvPr/>
        </p:nvSpPr>
        <p:spPr>
          <a:xfrm>
            <a:off x="6772275" y="2194917"/>
            <a:ext cx="4680585" cy="314325"/>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Phạm Vi Nghiên Cứu</a:t>
            </a:r>
            <a:endParaRPr/>
          </a:p>
        </p:txBody>
      </p:sp>
      <p:sp>
        <p:nvSpPr>
          <p:cNvPr id="159" name="Google Shape;159;p16"/>
          <p:cNvSpPr/>
          <p:nvPr/>
        </p:nvSpPr>
        <p:spPr>
          <a:xfrm>
            <a:off x="6772275" y="2633067"/>
            <a:ext cx="44577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0" name="Google Shape;160;p16"/>
          <p:cNvPicPr preferRelativeResize="0"/>
          <p:nvPr/>
        </p:nvPicPr>
        <p:blipFill rotWithShape="1">
          <a:blip r:embed="rId7">
            <a:alphaModFix/>
          </a:blip>
          <a:srcRect b="0" l="0" r="0" t="0"/>
          <a:stretch/>
        </p:blipFill>
        <p:spPr>
          <a:xfrm>
            <a:off x="962025" y="2223492"/>
            <a:ext cx="247650" cy="247650"/>
          </a:xfrm>
          <a:prstGeom prst="rect">
            <a:avLst/>
          </a:prstGeom>
          <a:noFill/>
          <a:ln>
            <a:noFill/>
          </a:ln>
        </p:spPr>
      </p:pic>
      <p:sp>
        <p:nvSpPr>
          <p:cNvPr id="161" name="Google Shape;161;p16"/>
          <p:cNvSpPr txBox="1"/>
          <p:nvPr/>
        </p:nvSpPr>
        <p:spPr>
          <a:xfrm>
            <a:off x="1200150" y="2842617"/>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Phân tích quy trình kiểm thử hiện tại của nhóm nhỏ.</a:t>
            </a:r>
            <a:endParaRPr/>
          </a:p>
        </p:txBody>
      </p:sp>
      <p:sp>
        <p:nvSpPr>
          <p:cNvPr id="162" name="Google Shape;162;p16"/>
          <p:cNvSpPr txBox="1"/>
          <p:nvPr/>
        </p:nvSpPr>
        <p:spPr>
          <a:xfrm>
            <a:off x="1200150" y="3573958"/>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Đề xuất lộ trình cải tiến phù hợp với khả năng tài chính của nhóm SMEs.</a:t>
            </a:r>
            <a:endParaRPr/>
          </a:p>
        </p:txBody>
      </p:sp>
      <p:sp>
        <p:nvSpPr>
          <p:cNvPr id="163" name="Google Shape;163;p16"/>
          <p:cNvSpPr txBox="1"/>
          <p:nvPr/>
        </p:nvSpPr>
        <p:spPr>
          <a:xfrm>
            <a:off x="1200150" y="4305300"/>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Xây dựng hệ thống chỉ số đo lường cốt lõi (Metrics) &amp; cơ chế phản hồi.</a:t>
            </a:r>
            <a:endParaRPr/>
          </a:p>
        </p:txBody>
      </p:sp>
      <p:sp>
        <p:nvSpPr>
          <p:cNvPr id="164" name="Google Shape;164;p16"/>
          <p:cNvSpPr txBox="1"/>
          <p:nvPr/>
        </p:nvSpPr>
        <p:spPr>
          <a:xfrm>
            <a:off x="1200150" y="5036641"/>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Đánh giá hiệu quả trên dự án thực tế về chất lượng và chi phí.</a:t>
            </a:r>
            <a:endParaRPr/>
          </a:p>
        </p:txBody>
      </p:sp>
      <p:pic>
        <p:nvPicPr>
          <p:cNvPr descr="image.png" id="165" name="Google Shape;165;p16"/>
          <p:cNvPicPr preferRelativeResize="0"/>
          <p:nvPr/>
        </p:nvPicPr>
        <p:blipFill rotWithShape="1">
          <a:blip r:embed="rId8">
            <a:alphaModFix/>
          </a:blip>
          <a:srcRect b="0" l="0" r="0" t="0"/>
          <a:stretch/>
        </p:blipFill>
        <p:spPr>
          <a:xfrm>
            <a:off x="6772275" y="2223492"/>
            <a:ext cx="247650" cy="247650"/>
          </a:xfrm>
          <a:prstGeom prst="rect">
            <a:avLst/>
          </a:prstGeom>
          <a:noFill/>
          <a:ln>
            <a:noFill/>
          </a:ln>
        </p:spPr>
      </p:pic>
      <p:sp>
        <p:nvSpPr>
          <p:cNvPr id="166" name="Google Shape;166;p16"/>
          <p:cNvSpPr txBox="1"/>
          <p:nvPr/>
        </p:nvSpPr>
        <p:spPr>
          <a:xfrm>
            <a:off x="7010400" y="2842617"/>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Tập trung vào cấp độ quy trình và quản lý (Process &amp; Management).</a:t>
            </a:r>
            <a:endParaRPr/>
          </a:p>
        </p:txBody>
      </p:sp>
      <p:sp>
        <p:nvSpPr>
          <p:cNvPr id="167" name="Google Shape;167;p16"/>
          <p:cNvSpPr txBox="1"/>
          <p:nvPr/>
        </p:nvSpPr>
        <p:spPr>
          <a:xfrm>
            <a:off x="7010400" y="3573958"/>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Áp dụng khung mô hình: TMMi, TPI Next và Lean Software Testing.</a:t>
            </a:r>
            <a:endParaRPr/>
          </a:p>
        </p:txBody>
      </p:sp>
      <p:sp>
        <p:nvSpPr>
          <p:cNvPr id="168" name="Google Shape;168;p16"/>
          <p:cNvSpPr txBox="1"/>
          <p:nvPr/>
        </p:nvSpPr>
        <p:spPr>
          <a:xfrm>
            <a:off x="7010400" y="4305300"/>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Công cụ: Jira (task), Google Sheets (dashboard), GitHub Actions (CI/CD).</a:t>
            </a:r>
            <a:endParaRPr/>
          </a:p>
        </p:txBody>
      </p:sp>
      <p:sp>
        <p:nvSpPr>
          <p:cNvPr id="169" name="Google Shape;169;p16"/>
          <p:cNvSpPr txBox="1"/>
          <p:nvPr/>
        </p:nvSpPr>
        <p:spPr>
          <a:xfrm>
            <a:off x="7010400" y="5036641"/>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Đối tượng: Dự án Web E-commerce Lite (nhóm 8–12 người).</a:t>
            </a:r>
            <a:endParaRPr/>
          </a:p>
        </p:txBody>
      </p:sp>
      <p:sp>
        <p:nvSpPr>
          <p:cNvPr id="170" name="Google Shape;170;p16"/>
          <p:cNvSpPr txBox="1"/>
          <p:nvPr/>
        </p:nvSpPr>
        <p:spPr>
          <a:xfrm>
            <a:off x="571500" y="552450"/>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MỤC TIÊU </a:t>
            </a:r>
            <a:r>
              <a:rPr b="1" lang="en-US" sz="2850">
                <a:solidFill>
                  <a:srgbClr val="1E3A8A"/>
                </a:solidFill>
                <a:latin typeface="Playfair Display"/>
                <a:ea typeface="Playfair Display"/>
                <a:cs typeface="Playfair Display"/>
                <a:sym typeface="Playfair Display"/>
              </a:rPr>
              <a:t>VÀ</a:t>
            </a:r>
            <a:r>
              <a:rPr b="1" i="0" lang="en-US" sz="2850" u="none" cap="none" strike="noStrike">
                <a:solidFill>
                  <a:srgbClr val="1E3A8A"/>
                </a:solidFill>
                <a:latin typeface="Playfair Display"/>
                <a:ea typeface="Playfair Display"/>
                <a:cs typeface="Playfair Display"/>
                <a:sym typeface="Playfair Display"/>
              </a:rPr>
              <a:t> PHẠM VI NGHIÊN CỨU</a:t>
            </a:r>
            <a:endParaRPr/>
          </a:p>
        </p:txBody>
      </p:sp>
      <p:sp>
        <p:nvSpPr>
          <p:cNvPr id="171" name="Google Shape;171;p16"/>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pic>
        <p:nvPicPr>
          <p:cNvPr descr="image.png" id="176" name="Google Shape;176;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7" name="Google Shape;177;p17"/>
          <p:cNvSpPr txBox="1"/>
          <p:nvPr/>
        </p:nvSpPr>
        <p:spPr>
          <a:xfrm>
            <a:off x="571500" y="571500"/>
            <a:ext cx="5550693"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TPI LÀ GÌ?</a:t>
            </a:r>
            <a:endParaRPr/>
          </a:p>
        </p:txBody>
      </p:sp>
      <p:sp>
        <p:nvSpPr>
          <p:cNvPr id="178" name="Google Shape;178;p17"/>
          <p:cNvSpPr txBox="1"/>
          <p:nvPr/>
        </p:nvSpPr>
        <p:spPr>
          <a:xfrm>
            <a:off x="571500" y="6410325"/>
            <a:ext cx="1785937"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Cơ sở lý thuyết</a:t>
            </a:r>
            <a:endParaRPr/>
          </a:p>
        </p:txBody>
      </p:sp>
      <p:pic>
        <p:nvPicPr>
          <p:cNvPr descr="image.png" id="179" name="Google Shape;179;p17"/>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180" name="Google Shape;180;p17"/>
          <p:cNvSpPr txBox="1"/>
          <p:nvPr/>
        </p:nvSpPr>
        <p:spPr>
          <a:xfrm>
            <a:off x="571500" y="1804392"/>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475569"/>
                </a:solidFill>
                <a:latin typeface="Inter"/>
                <a:ea typeface="Inter"/>
                <a:cs typeface="Inter"/>
                <a:sym typeface="Inter"/>
              </a:rPr>
              <a:t>Test Process Improvement (TPI)</a:t>
            </a:r>
            <a:r>
              <a:rPr b="0" i="0" lang="en-US" sz="1500" u="none" cap="none" strike="noStrike">
                <a:solidFill>
                  <a:srgbClr val="475569"/>
                </a:solidFill>
                <a:latin typeface="Inter"/>
                <a:ea typeface="Inter"/>
                <a:cs typeface="Inter"/>
                <a:sym typeface="Inter"/>
              </a:rPr>
              <a:t> là phương pháp tiếp cận có hệ thống nhằm nâng cao chất lượng và hiệu quả của quy trình kiểm thử.</a:t>
            </a:r>
            <a:endParaRPr/>
          </a:p>
        </p:txBody>
      </p:sp>
      <p:sp>
        <p:nvSpPr>
          <p:cNvPr id="181" name="Google Shape;181;p17"/>
          <p:cNvSpPr txBox="1"/>
          <p:nvPr/>
        </p:nvSpPr>
        <p:spPr>
          <a:xfrm>
            <a:off x="571500" y="2909292"/>
            <a:ext cx="5550693" cy="228600"/>
          </a:xfrm>
          <a:prstGeom prst="rect">
            <a:avLst/>
          </a:prstGeom>
          <a:noFill/>
          <a:ln>
            <a:noFill/>
          </a:ln>
        </p:spPr>
        <p:txBody>
          <a:bodyPr anchorCtr="0" anchor="t" bIns="0" lIns="190500" spcFirstLastPara="1" rIns="0" wrap="square" tIns="0">
            <a:spAutoFit/>
          </a:bodyPr>
          <a:lstStyle/>
          <a:p>
            <a:pPr indent="0" lvl="0" marL="0" marR="0" rtl="0" algn="l">
              <a:spcBef>
                <a:spcPts val="0"/>
              </a:spcBef>
              <a:spcAft>
                <a:spcPts val="0"/>
              </a:spcAft>
              <a:buNone/>
            </a:pPr>
            <a:r>
              <a:rPr b="1" i="0" lang="en-US" sz="1500" u="none" cap="none" strike="noStrike">
                <a:solidFill>
                  <a:srgbClr val="1E3A8A"/>
                </a:solidFill>
                <a:latin typeface="Inter"/>
                <a:ea typeface="Inter"/>
                <a:cs typeface="Inter"/>
                <a:sym typeface="Inter"/>
              </a:rPr>
              <a:t>Đánh giá trạng thái</a:t>
            </a:r>
            <a:endParaRPr/>
          </a:p>
        </p:txBody>
      </p:sp>
      <p:sp>
        <p:nvSpPr>
          <p:cNvPr id="182" name="Google Shape;182;p17"/>
          <p:cNvSpPr txBox="1"/>
          <p:nvPr/>
        </p:nvSpPr>
        <p:spPr>
          <a:xfrm>
            <a:off x="571500" y="3252192"/>
            <a:ext cx="5286375" cy="517921"/>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475569"/>
                </a:solidFill>
                <a:latin typeface="Inter"/>
                <a:ea typeface="Inter"/>
                <a:cs typeface="Inter"/>
                <a:sym typeface="Inter"/>
              </a:rPr>
              <a:t>Xác định mức độ trưởng thành, tìm ra các điểm nghẽn và hạn chế đang tồn tại.</a:t>
            </a:r>
            <a:endParaRPr/>
          </a:p>
        </p:txBody>
      </p:sp>
      <p:sp>
        <p:nvSpPr>
          <p:cNvPr id="183" name="Google Shape;183;p17"/>
          <p:cNvSpPr txBox="1"/>
          <p:nvPr/>
        </p:nvSpPr>
        <p:spPr>
          <a:xfrm>
            <a:off x="571500" y="3960614"/>
            <a:ext cx="5550693" cy="228600"/>
          </a:xfrm>
          <a:prstGeom prst="rect">
            <a:avLst/>
          </a:prstGeom>
          <a:noFill/>
          <a:ln>
            <a:noFill/>
          </a:ln>
        </p:spPr>
        <p:txBody>
          <a:bodyPr anchorCtr="0" anchor="t" bIns="0" lIns="171450" spcFirstLastPara="1" rIns="0" wrap="square" tIns="0">
            <a:spAutoFit/>
          </a:bodyPr>
          <a:lstStyle/>
          <a:p>
            <a:pPr indent="0" lvl="0" marL="0" marR="0" rtl="0" algn="l">
              <a:spcBef>
                <a:spcPts val="0"/>
              </a:spcBef>
              <a:spcAft>
                <a:spcPts val="0"/>
              </a:spcAft>
              <a:buNone/>
            </a:pPr>
            <a:r>
              <a:rPr b="1" i="0" lang="en-US" sz="1500" u="none" cap="none" strike="noStrike">
                <a:solidFill>
                  <a:srgbClr val="1E3A8A"/>
                </a:solidFill>
                <a:latin typeface="Inter"/>
                <a:ea typeface="Inter"/>
                <a:cs typeface="Inter"/>
                <a:sym typeface="Inter"/>
              </a:rPr>
              <a:t>Chuyển dịch tư duy</a:t>
            </a:r>
            <a:endParaRPr/>
          </a:p>
        </p:txBody>
      </p:sp>
      <p:sp>
        <p:nvSpPr>
          <p:cNvPr id="184" name="Google Shape;184;p17"/>
          <p:cNvSpPr txBox="1"/>
          <p:nvPr/>
        </p:nvSpPr>
        <p:spPr>
          <a:xfrm>
            <a:off x="571500" y="4303514"/>
            <a:ext cx="5286375" cy="517921"/>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475569"/>
                </a:solidFill>
                <a:latin typeface="Inter"/>
                <a:ea typeface="Inter"/>
                <a:cs typeface="Inter"/>
                <a:sym typeface="Inter"/>
              </a:rPr>
              <a:t>Từ phát hiện lỗi cuối chu kỳ sang ngăn ngừa lỗi từ sớm (Shift-Left), giảm thiểu rủi ro.</a:t>
            </a:r>
            <a:endParaRPr/>
          </a:p>
        </p:txBody>
      </p:sp>
      <p:sp>
        <p:nvSpPr>
          <p:cNvPr id="185" name="Google Shape;185;p17"/>
          <p:cNvSpPr txBox="1"/>
          <p:nvPr/>
        </p:nvSpPr>
        <p:spPr>
          <a:xfrm>
            <a:off x="571500" y="5011935"/>
            <a:ext cx="5550693" cy="228600"/>
          </a:xfrm>
          <a:prstGeom prst="rect">
            <a:avLst/>
          </a:prstGeom>
          <a:noFill/>
          <a:ln>
            <a:noFill/>
          </a:ln>
        </p:spPr>
        <p:txBody>
          <a:bodyPr anchorCtr="0" anchor="t" bIns="0" lIns="190500" spcFirstLastPara="1" rIns="0" wrap="square" tIns="0">
            <a:spAutoFit/>
          </a:bodyPr>
          <a:lstStyle/>
          <a:p>
            <a:pPr indent="0" lvl="0" marL="0" marR="0" rtl="0" algn="l">
              <a:spcBef>
                <a:spcPts val="0"/>
              </a:spcBef>
              <a:spcAft>
                <a:spcPts val="0"/>
              </a:spcAft>
              <a:buNone/>
            </a:pPr>
            <a:r>
              <a:rPr b="1" i="0" lang="en-US" sz="1500" u="none" cap="none" strike="noStrike">
                <a:solidFill>
                  <a:srgbClr val="1E3A8A"/>
                </a:solidFill>
                <a:latin typeface="Inter"/>
                <a:ea typeface="Inter"/>
                <a:cs typeface="Inter"/>
                <a:sym typeface="Inter"/>
              </a:rPr>
              <a:t>Mục tiêu cốt lõi</a:t>
            </a:r>
            <a:endParaRPr/>
          </a:p>
        </p:txBody>
      </p:sp>
      <p:sp>
        <p:nvSpPr>
          <p:cNvPr id="186" name="Google Shape;186;p17"/>
          <p:cNvSpPr txBox="1"/>
          <p:nvPr/>
        </p:nvSpPr>
        <p:spPr>
          <a:xfrm>
            <a:off x="571500" y="5354835"/>
            <a:ext cx="5286375" cy="517921"/>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475569"/>
                </a:solidFill>
                <a:latin typeface="Inter"/>
                <a:ea typeface="Inter"/>
                <a:cs typeface="Inter"/>
                <a:sym typeface="Inter"/>
              </a:rPr>
              <a:t>Tăng hiệu quả, nâng cao hiệu lực và giảm chi phí chất lượng kém (Cost of Poor Quality).</a:t>
            </a:r>
            <a:endParaRPr/>
          </a:p>
        </p:txBody>
      </p:sp>
      <p:pic>
        <p:nvPicPr>
          <p:cNvPr descr="image.png" id="187" name="Google Shape;187;p17"/>
          <p:cNvPicPr preferRelativeResize="0"/>
          <p:nvPr/>
        </p:nvPicPr>
        <p:blipFill rotWithShape="1">
          <a:blip r:embed="rId5">
            <a:alphaModFix/>
          </a:blip>
          <a:srcRect b="0" l="0" r="0" t="0"/>
          <a:stretch/>
        </p:blipFill>
        <p:spPr>
          <a:xfrm>
            <a:off x="571500" y="2928342"/>
            <a:ext cx="190500" cy="190500"/>
          </a:xfrm>
          <a:prstGeom prst="rect">
            <a:avLst/>
          </a:prstGeom>
          <a:noFill/>
          <a:ln>
            <a:noFill/>
          </a:ln>
        </p:spPr>
      </p:pic>
      <p:pic>
        <p:nvPicPr>
          <p:cNvPr descr="image.png" id="188" name="Google Shape;188;p17"/>
          <p:cNvPicPr preferRelativeResize="0"/>
          <p:nvPr/>
        </p:nvPicPr>
        <p:blipFill rotWithShape="1">
          <a:blip r:embed="rId6">
            <a:alphaModFix/>
          </a:blip>
          <a:srcRect b="0" l="0" r="0" t="0"/>
          <a:stretch/>
        </p:blipFill>
        <p:spPr>
          <a:xfrm>
            <a:off x="571500" y="3979664"/>
            <a:ext cx="171450" cy="190500"/>
          </a:xfrm>
          <a:prstGeom prst="rect">
            <a:avLst/>
          </a:prstGeom>
          <a:noFill/>
          <a:ln>
            <a:noFill/>
          </a:ln>
        </p:spPr>
      </p:pic>
      <p:pic>
        <p:nvPicPr>
          <p:cNvPr descr="image.png" id="189" name="Google Shape;189;p17"/>
          <p:cNvPicPr preferRelativeResize="0"/>
          <p:nvPr/>
        </p:nvPicPr>
        <p:blipFill rotWithShape="1">
          <a:blip r:embed="rId7">
            <a:alphaModFix/>
          </a:blip>
          <a:srcRect b="0" l="0" r="0" t="0"/>
          <a:stretch/>
        </p:blipFill>
        <p:spPr>
          <a:xfrm>
            <a:off x="571500" y="5030985"/>
            <a:ext cx="190500" cy="190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pic>
        <p:nvPicPr>
          <p:cNvPr descr="image.png" id="194" name="Google Shape;194;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5" name="Google Shape;195;p18"/>
          <p:cNvPicPr preferRelativeResize="0"/>
          <p:nvPr/>
        </p:nvPicPr>
        <p:blipFill rotWithShape="1">
          <a:blip r:embed="rId4">
            <a:alphaModFix/>
          </a:blip>
          <a:srcRect b="0" l="0" r="0" t="0"/>
          <a:stretch/>
        </p:blipFill>
        <p:spPr>
          <a:xfrm>
            <a:off x="571500" y="1683394"/>
            <a:ext cx="5238750" cy="4595961"/>
          </a:xfrm>
          <a:prstGeom prst="rect">
            <a:avLst/>
          </a:prstGeom>
          <a:noFill/>
          <a:ln>
            <a:noFill/>
          </a:ln>
        </p:spPr>
      </p:pic>
      <p:pic>
        <p:nvPicPr>
          <p:cNvPr descr="image.png" id="196" name="Google Shape;196;p18"/>
          <p:cNvPicPr preferRelativeResize="0"/>
          <p:nvPr/>
        </p:nvPicPr>
        <p:blipFill rotWithShape="1">
          <a:blip r:embed="rId5">
            <a:alphaModFix/>
          </a:blip>
          <a:srcRect b="0" l="0" r="0" t="0"/>
          <a:stretch/>
        </p:blipFill>
        <p:spPr>
          <a:xfrm>
            <a:off x="6381750" y="1683394"/>
            <a:ext cx="5238750" cy="4595961"/>
          </a:xfrm>
          <a:prstGeom prst="rect">
            <a:avLst/>
          </a:prstGeom>
          <a:noFill/>
          <a:ln>
            <a:noFill/>
          </a:ln>
        </p:spPr>
      </p:pic>
      <p:pic>
        <p:nvPicPr>
          <p:cNvPr descr="image.png" id="197" name="Google Shape;197;p18"/>
          <p:cNvPicPr preferRelativeResize="0"/>
          <p:nvPr/>
        </p:nvPicPr>
        <p:blipFill rotWithShape="1">
          <a:blip r:embed="rId6">
            <a:alphaModFix/>
          </a:blip>
          <a:srcRect b="0" l="0" r="0" t="0"/>
          <a:stretch/>
        </p:blipFill>
        <p:spPr>
          <a:xfrm>
            <a:off x="571500" y="6257925"/>
            <a:ext cx="11049000" cy="314325"/>
          </a:xfrm>
          <a:prstGeom prst="rect">
            <a:avLst/>
          </a:prstGeom>
          <a:noFill/>
          <a:ln>
            <a:noFill/>
          </a:ln>
        </p:spPr>
      </p:pic>
      <p:sp>
        <p:nvSpPr>
          <p:cNvPr id="198" name="Google Shape;198;p18"/>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8"/>
          <p:cNvSpPr txBox="1"/>
          <p:nvPr/>
        </p:nvSpPr>
        <p:spPr>
          <a:xfrm>
            <a:off x="571500" y="6410325"/>
            <a:ext cx="9525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Cơ sở lý thuyết</a:t>
            </a:r>
            <a:endParaRPr/>
          </a:p>
        </p:txBody>
      </p:sp>
      <p:sp>
        <p:nvSpPr>
          <p:cNvPr id="200" name="Google Shape;200;p18"/>
          <p:cNvSpPr txBox="1"/>
          <p:nvPr/>
        </p:nvSpPr>
        <p:spPr>
          <a:xfrm>
            <a:off x="962025" y="2073919"/>
            <a:ext cx="4680585" cy="295275"/>
          </a:xfrm>
          <a:prstGeom prst="rect">
            <a:avLst/>
          </a:prstGeom>
          <a:noFill/>
          <a:ln>
            <a:noFill/>
          </a:ln>
        </p:spPr>
        <p:txBody>
          <a:bodyPr anchorCtr="0" anchor="t" bIns="0" lIns="371475"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Mô hình TMMi</a:t>
            </a:r>
            <a:endParaRPr/>
          </a:p>
        </p:txBody>
      </p:sp>
      <p:sp>
        <p:nvSpPr>
          <p:cNvPr id="201" name="Google Shape;201;p18"/>
          <p:cNvSpPr txBox="1"/>
          <p:nvPr/>
        </p:nvSpPr>
        <p:spPr>
          <a:xfrm>
            <a:off x="962025" y="2483494"/>
            <a:ext cx="445770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1" lang="en-US" sz="1425" u="none" cap="none" strike="noStrike">
                <a:solidFill>
                  <a:srgbClr val="475569"/>
                </a:solidFill>
                <a:latin typeface="Inter"/>
                <a:ea typeface="Inter"/>
                <a:cs typeface="Inter"/>
                <a:sym typeface="Inter"/>
              </a:rPr>
              <a:t>Test Maturity Model Integration</a:t>
            </a:r>
            <a:endParaRPr/>
          </a:p>
        </p:txBody>
      </p:sp>
      <p:sp>
        <p:nvSpPr>
          <p:cNvPr id="202" name="Google Shape;202;p18"/>
          <p:cNvSpPr txBox="1"/>
          <p:nvPr/>
        </p:nvSpPr>
        <p:spPr>
          <a:xfrm>
            <a:off x="6772275" y="2073919"/>
            <a:ext cx="4680585" cy="295275"/>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Mô hình TPI Next</a:t>
            </a:r>
            <a:endParaRPr/>
          </a:p>
        </p:txBody>
      </p:sp>
      <p:sp>
        <p:nvSpPr>
          <p:cNvPr id="203" name="Google Shape;203;p18"/>
          <p:cNvSpPr txBox="1"/>
          <p:nvPr/>
        </p:nvSpPr>
        <p:spPr>
          <a:xfrm>
            <a:off x="6772275" y="2483494"/>
            <a:ext cx="445770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1" lang="en-US" sz="1425" u="none" cap="none" strike="noStrike">
                <a:solidFill>
                  <a:srgbClr val="475569"/>
                </a:solidFill>
                <a:latin typeface="Inter"/>
                <a:ea typeface="Inter"/>
                <a:cs typeface="Inter"/>
                <a:sym typeface="Inter"/>
              </a:rPr>
              <a:t>Test Process Improvement</a:t>
            </a:r>
            <a:endParaRPr/>
          </a:p>
        </p:txBody>
      </p:sp>
      <p:pic>
        <p:nvPicPr>
          <p:cNvPr descr="image.png" id="204" name="Google Shape;204;p18"/>
          <p:cNvPicPr preferRelativeResize="0"/>
          <p:nvPr/>
        </p:nvPicPr>
        <p:blipFill rotWithShape="1">
          <a:blip r:embed="rId7">
            <a:alphaModFix/>
          </a:blip>
          <a:srcRect b="0" l="0" r="0" t="0"/>
          <a:stretch/>
        </p:blipFill>
        <p:spPr>
          <a:xfrm>
            <a:off x="962025" y="2102494"/>
            <a:ext cx="276225" cy="247650"/>
          </a:xfrm>
          <a:prstGeom prst="rect">
            <a:avLst/>
          </a:prstGeom>
          <a:noFill/>
          <a:ln>
            <a:noFill/>
          </a:ln>
        </p:spPr>
      </p:pic>
      <p:sp>
        <p:nvSpPr>
          <p:cNvPr id="205" name="Google Shape;205;p18"/>
          <p:cNvSpPr txBox="1"/>
          <p:nvPr/>
        </p:nvSpPr>
        <p:spPr>
          <a:xfrm>
            <a:off x="1200150" y="2963465"/>
            <a:ext cx="421957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Gồm 5 cấp độ trưởng thành: Initial → Managed → Defined → Quantitatively Managed → Optimization.</a:t>
            </a:r>
            <a:endParaRPr/>
          </a:p>
        </p:txBody>
      </p:sp>
      <p:sp>
        <p:nvSpPr>
          <p:cNvPr id="206" name="Google Shape;206;p18"/>
          <p:cNvSpPr txBox="1"/>
          <p:nvPr/>
        </p:nvSpPr>
        <p:spPr>
          <a:xfrm>
            <a:off x="1200150" y="3984277"/>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Chuẩn đánh giá toàn cầu, có chứng nhận quốc tế rõ ràng.</a:t>
            </a:r>
            <a:endParaRPr/>
          </a:p>
        </p:txBody>
      </p:sp>
      <p:sp>
        <p:nvSpPr>
          <p:cNvPr id="207" name="Google Shape;207;p18"/>
          <p:cNvSpPr txBox="1"/>
          <p:nvPr/>
        </p:nvSpPr>
        <p:spPr>
          <a:xfrm>
            <a:off x="1200150" y="4715619"/>
            <a:ext cx="4219575"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Cấu trúc chi tiết theo từng Process Area cụ thể.</a:t>
            </a:r>
            <a:endParaRPr/>
          </a:p>
        </p:txBody>
      </p:sp>
      <p:sp>
        <p:nvSpPr>
          <p:cNvPr id="208" name="Google Shape;208;p18"/>
          <p:cNvSpPr txBox="1"/>
          <p:nvPr/>
        </p:nvSpPr>
        <p:spPr>
          <a:xfrm>
            <a:off x="1200150" y="5157489"/>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Mục tiêu cho SMEs: Đạt Level 2–3 trong 6 tháng đầu.</a:t>
            </a:r>
            <a:endParaRPr/>
          </a:p>
        </p:txBody>
      </p:sp>
      <p:pic>
        <p:nvPicPr>
          <p:cNvPr descr="image.png" id="209" name="Google Shape;209;p18"/>
          <p:cNvPicPr preferRelativeResize="0"/>
          <p:nvPr/>
        </p:nvPicPr>
        <p:blipFill rotWithShape="1">
          <a:blip r:embed="rId8">
            <a:alphaModFix/>
          </a:blip>
          <a:srcRect b="0" l="0" r="0" t="0"/>
          <a:stretch/>
        </p:blipFill>
        <p:spPr>
          <a:xfrm>
            <a:off x="6772275" y="2102494"/>
            <a:ext cx="247650" cy="247650"/>
          </a:xfrm>
          <a:prstGeom prst="rect">
            <a:avLst/>
          </a:prstGeom>
          <a:noFill/>
          <a:ln>
            <a:noFill/>
          </a:ln>
        </p:spPr>
      </p:pic>
      <p:sp>
        <p:nvSpPr>
          <p:cNvPr id="210" name="Google Shape;210;p18"/>
          <p:cNvSpPr txBox="1"/>
          <p:nvPr/>
        </p:nvSpPr>
        <p:spPr>
          <a:xfrm>
            <a:off x="7010400" y="2963465"/>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Mô hình liên tục, đánh giá linh hoạt theo Key Areas.</a:t>
            </a:r>
            <a:endParaRPr/>
          </a:p>
        </p:txBody>
      </p:sp>
      <p:sp>
        <p:nvSpPr>
          <p:cNvPr id="211" name="Google Shape;211;p18"/>
          <p:cNvSpPr txBox="1"/>
          <p:nvPr/>
        </p:nvSpPr>
        <p:spPr>
          <a:xfrm>
            <a:off x="7010400" y="3694807"/>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Phân bổ 16 Key Areas: Chiến lược, Vòng đời, Kỹ thuật...</a:t>
            </a:r>
            <a:endParaRPr/>
          </a:p>
        </p:txBody>
      </p:sp>
      <p:sp>
        <p:nvSpPr>
          <p:cNvPr id="212" name="Google Shape;212;p18"/>
          <p:cNvSpPr txBox="1"/>
          <p:nvPr/>
        </p:nvSpPr>
        <p:spPr>
          <a:xfrm>
            <a:off x="7010400" y="4426148"/>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Không yêu cầu đạt đủ cấp độ tuần tự – cho phép cải tiến từng phần.</a:t>
            </a:r>
            <a:endParaRPr/>
          </a:p>
        </p:txBody>
      </p:sp>
      <p:sp>
        <p:nvSpPr>
          <p:cNvPr id="213" name="Google Shape;213;p18"/>
          <p:cNvSpPr txBox="1"/>
          <p:nvPr/>
        </p:nvSpPr>
        <p:spPr>
          <a:xfrm>
            <a:off x="7010400" y="5157489"/>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Ưu điểm cho SMEs: linh hoạt, triển khai nhanh, chi phí thấp.</a:t>
            </a:r>
            <a:endParaRPr/>
          </a:p>
        </p:txBody>
      </p:sp>
      <p:sp>
        <p:nvSpPr>
          <p:cNvPr id="214" name="Google Shape;214;p18"/>
          <p:cNvSpPr txBox="1"/>
          <p:nvPr/>
        </p:nvSpPr>
        <p:spPr>
          <a:xfrm>
            <a:off x="571500" y="552450"/>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MÔ HÌNH TRƯỞNG THÀNH TMMI </a:t>
            </a:r>
            <a:r>
              <a:rPr b="1" lang="en-US" sz="2850">
                <a:solidFill>
                  <a:srgbClr val="1E3A8A"/>
                </a:solidFill>
                <a:latin typeface="Playfair Display"/>
                <a:ea typeface="Playfair Display"/>
                <a:cs typeface="Playfair Display"/>
                <a:sym typeface="Playfair Display"/>
              </a:rPr>
              <a:t>VÀ</a:t>
            </a:r>
            <a:r>
              <a:rPr b="1" i="0" lang="en-US" sz="2850" u="none" cap="none" strike="noStrike">
                <a:solidFill>
                  <a:srgbClr val="1E3A8A"/>
                </a:solidFill>
                <a:latin typeface="Playfair Display"/>
                <a:ea typeface="Playfair Display"/>
                <a:cs typeface="Playfair Display"/>
                <a:sym typeface="Playfair Display"/>
              </a:rPr>
              <a:t> TPI NEXT</a:t>
            </a:r>
            <a:endParaRPr/>
          </a:p>
        </p:txBody>
      </p:sp>
      <p:sp>
        <p:nvSpPr>
          <p:cNvPr id="215" name="Google Shape;215;p18"/>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pic>
        <p:nvPicPr>
          <p:cNvPr descr="image.png" id="220" name="Google Shape;22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1" name="Google Shape;221;p19"/>
          <p:cNvPicPr preferRelativeResize="0"/>
          <p:nvPr/>
        </p:nvPicPr>
        <p:blipFill rotWithShape="1">
          <a:blip r:embed="rId4">
            <a:alphaModFix/>
          </a:blip>
          <a:srcRect b="0" l="0" r="0" t="0"/>
          <a:stretch/>
        </p:blipFill>
        <p:spPr>
          <a:xfrm>
            <a:off x="571500" y="2281386"/>
            <a:ext cx="3492549" cy="3399978"/>
          </a:xfrm>
          <a:prstGeom prst="rect">
            <a:avLst/>
          </a:prstGeom>
          <a:noFill/>
          <a:ln>
            <a:noFill/>
          </a:ln>
        </p:spPr>
      </p:pic>
      <p:pic>
        <p:nvPicPr>
          <p:cNvPr descr="image.png" id="222" name="Google Shape;222;p19"/>
          <p:cNvPicPr preferRelativeResize="0"/>
          <p:nvPr/>
        </p:nvPicPr>
        <p:blipFill rotWithShape="1">
          <a:blip r:embed="rId5">
            <a:alphaModFix/>
          </a:blip>
          <a:srcRect b="0" l="0" r="0" t="0"/>
          <a:stretch/>
        </p:blipFill>
        <p:spPr>
          <a:xfrm>
            <a:off x="4349799" y="2281386"/>
            <a:ext cx="3492549" cy="3399978"/>
          </a:xfrm>
          <a:prstGeom prst="rect">
            <a:avLst/>
          </a:prstGeom>
          <a:noFill/>
          <a:ln>
            <a:noFill/>
          </a:ln>
        </p:spPr>
      </p:pic>
      <p:pic>
        <p:nvPicPr>
          <p:cNvPr descr="image.png" id="223" name="Google Shape;223;p19"/>
          <p:cNvPicPr preferRelativeResize="0"/>
          <p:nvPr/>
        </p:nvPicPr>
        <p:blipFill rotWithShape="1">
          <a:blip r:embed="rId6">
            <a:alphaModFix/>
          </a:blip>
          <a:srcRect b="0" l="0" r="0" t="0"/>
          <a:stretch/>
        </p:blipFill>
        <p:spPr>
          <a:xfrm>
            <a:off x="8128099" y="2281386"/>
            <a:ext cx="3492549" cy="3399978"/>
          </a:xfrm>
          <a:prstGeom prst="rect">
            <a:avLst/>
          </a:prstGeom>
          <a:noFill/>
          <a:ln>
            <a:noFill/>
          </a:ln>
        </p:spPr>
      </p:pic>
      <p:pic>
        <p:nvPicPr>
          <p:cNvPr descr="image.png" id="224" name="Google Shape;224;p19"/>
          <p:cNvPicPr preferRelativeResize="0"/>
          <p:nvPr/>
        </p:nvPicPr>
        <p:blipFill rotWithShape="1">
          <a:blip r:embed="rId7">
            <a:alphaModFix/>
          </a:blip>
          <a:srcRect b="0" l="0" r="0" t="0"/>
          <a:stretch/>
        </p:blipFill>
        <p:spPr>
          <a:xfrm>
            <a:off x="571500" y="6257925"/>
            <a:ext cx="11049000" cy="314325"/>
          </a:xfrm>
          <a:prstGeom prst="rect">
            <a:avLst/>
          </a:prstGeom>
          <a:noFill/>
          <a:ln>
            <a:noFill/>
          </a:ln>
        </p:spPr>
      </p:pic>
      <p:sp>
        <p:nvSpPr>
          <p:cNvPr id="225" name="Google Shape;225;p19"/>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19"/>
          <p:cNvSpPr txBox="1"/>
          <p:nvPr/>
        </p:nvSpPr>
        <p:spPr>
          <a:xfrm>
            <a:off x="571500" y="6410325"/>
            <a:ext cx="31506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Đảm bảo chất lượng &amp; Kiểm thử phần mềm</a:t>
            </a:r>
            <a:endParaRPr/>
          </a:p>
        </p:txBody>
      </p:sp>
      <p:pic>
        <p:nvPicPr>
          <p:cNvPr descr="image.png" id="227" name="Google Shape;227;p19"/>
          <p:cNvPicPr preferRelativeResize="0"/>
          <p:nvPr/>
        </p:nvPicPr>
        <p:blipFill rotWithShape="1">
          <a:blip r:embed="rId8">
            <a:alphaModFix/>
          </a:blip>
          <a:srcRect b="0" l="0" r="0" t="0"/>
          <a:stretch/>
        </p:blipFill>
        <p:spPr>
          <a:xfrm>
            <a:off x="819150" y="2624286"/>
            <a:ext cx="666750" cy="666750"/>
          </a:xfrm>
          <a:prstGeom prst="rect">
            <a:avLst/>
          </a:prstGeom>
          <a:noFill/>
          <a:ln>
            <a:noFill/>
          </a:ln>
        </p:spPr>
      </p:pic>
      <p:sp>
        <p:nvSpPr>
          <p:cNvPr id="228" name="Google Shape;228;p19"/>
          <p:cNvSpPr txBox="1"/>
          <p:nvPr/>
        </p:nvSpPr>
        <p:spPr>
          <a:xfrm>
            <a:off x="819150" y="3481536"/>
            <a:ext cx="3060382"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Tối ưu dòng chảy (Flow)</a:t>
            </a:r>
            <a:endParaRPr/>
          </a:p>
        </p:txBody>
      </p:sp>
      <p:sp>
        <p:nvSpPr>
          <p:cNvPr id="229" name="Google Shape;229;p19"/>
          <p:cNvSpPr txBox="1"/>
          <p:nvPr/>
        </p:nvSpPr>
        <p:spPr>
          <a:xfrm>
            <a:off x="819150" y="3891111"/>
            <a:ext cx="2997249" cy="1447353"/>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Loại bỏ các điểm nghẽn trong quy trình kiểm thử, đảm bảo công việc di chuyển liên tục từ phát triển đến kiểm thử và phát hành, không bị đình trệ.</a:t>
            </a:r>
            <a:endParaRPr/>
          </a:p>
        </p:txBody>
      </p:sp>
      <p:pic>
        <p:nvPicPr>
          <p:cNvPr descr="image.png" id="230" name="Google Shape;230;p19"/>
          <p:cNvPicPr preferRelativeResize="0"/>
          <p:nvPr/>
        </p:nvPicPr>
        <p:blipFill rotWithShape="1">
          <a:blip r:embed="rId9">
            <a:alphaModFix/>
          </a:blip>
          <a:srcRect b="0" l="0" r="0" t="0"/>
          <a:stretch/>
        </p:blipFill>
        <p:spPr>
          <a:xfrm>
            <a:off x="4597449" y="2624286"/>
            <a:ext cx="666750" cy="666750"/>
          </a:xfrm>
          <a:prstGeom prst="rect">
            <a:avLst/>
          </a:prstGeom>
          <a:noFill/>
          <a:ln>
            <a:noFill/>
          </a:ln>
        </p:spPr>
      </p:pic>
      <p:sp>
        <p:nvSpPr>
          <p:cNvPr id="231" name="Google Shape;231;p19"/>
          <p:cNvSpPr txBox="1"/>
          <p:nvPr/>
        </p:nvSpPr>
        <p:spPr>
          <a:xfrm>
            <a:off x="4597449" y="3481536"/>
            <a:ext cx="2810351"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Loại bỏ lãng phí &amp; WIP</a:t>
            </a:r>
            <a:endParaRPr/>
          </a:p>
        </p:txBody>
      </p:sp>
      <p:sp>
        <p:nvSpPr>
          <p:cNvPr id="232" name="Google Shape;232;p19"/>
          <p:cNvSpPr txBox="1"/>
          <p:nvPr/>
        </p:nvSpPr>
        <p:spPr>
          <a:xfrm>
            <a:off x="4597449" y="3891111"/>
            <a:ext cx="2997249" cy="1447353"/>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Giảm thiểu các hoạt động không tạo giá trị. Giới hạn số lượng task đang xử lý đồng thời (WIP: 4–5 stories/cột) để tăng cường sự tập trung.</a:t>
            </a:r>
            <a:endParaRPr/>
          </a:p>
        </p:txBody>
      </p:sp>
      <p:pic>
        <p:nvPicPr>
          <p:cNvPr descr="image.png" id="233" name="Google Shape;233;p19"/>
          <p:cNvPicPr preferRelativeResize="0"/>
          <p:nvPr/>
        </p:nvPicPr>
        <p:blipFill rotWithShape="1">
          <a:blip r:embed="rId10">
            <a:alphaModFix/>
          </a:blip>
          <a:srcRect b="0" l="0" r="0" t="0"/>
          <a:stretch/>
        </p:blipFill>
        <p:spPr>
          <a:xfrm>
            <a:off x="8375749" y="2624286"/>
            <a:ext cx="666750" cy="666750"/>
          </a:xfrm>
          <a:prstGeom prst="rect">
            <a:avLst/>
          </a:prstGeom>
          <a:noFill/>
          <a:ln>
            <a:noFill/>
          </a:ln>
        </p:spPr>
      </p:pic>
      <p:sp>
        <p:nvSpPr>
          <p:cNvPr id="234" name="Google Shape;234;p19"/>
          <p:cNvSpPr txBox="1"/>
          <p:nvPr/>
        </p:nvSpPr>
        <p:spPr>
          <a:xfrm>
            <a:off x="8375749" y="3481536"/>
            <a:ext cx="3070383"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E3A8A"/>
                </a:solidFill>
                <a:latin typeface="Inter"/>
                <a:ea typeface="Inter"/>
                <a:cs typeface="Inter"/>
                <a:sym typeface="Inter"/>
              </a:rPr>
              <a:t>Cải tiến liên tục (Kaizen)</a:t>
            </a:r>
            <a:endParaRPr/>
          </a:p>
        </p:txBody>
      </p:sp>
      <p:sp>
        <p:nvSpPr>
          <p:cNvPr id="235" name="Google Shape;235;p19"/>
          <p:cNvSpPr txBox="1"/>
          <p:nvPr/>
        </p:nvSpPr>
        <p:spPr>
          <a:xfrm>
            <a:off x="8375749" y="3891111"/>
            <a:ext cx="2997249" cy="1447353"/>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Mỗi Sprint là một cơ hội nhìn lại, học hỏi và cải thiện quy trình. Qua đó xây dựng văn hóa chất lượng bền vững ngay trong các nhóm nhỏ.</a:t>
            </a:r>
            <a:endParaRPr/>
          </a:p>
        </p:txBody>
      </p:sp>
      <p:pic>
        <p:nvPicPr>
          <p:cNvPr descr="image.png" id="236" name="Google Shape;236;p19"/>
          <p:cNvPicPr preferRelativeResize="0"/>
          <p:nvPr/>
        </p:nvPicPr>
        <p:blipFill rotWithShape="1">
          <a:blip r:embed="rId11">
            <a:alphaModFix/>
          </a:blip>
          <a:srcRect b="0" l="0" r="0" t="0"/>
          <a:stretch/>
        </p:blipFill>
        <p:spPr>
          <a:xfrm>
            <a:off x="947737" y="2776686"/>
            <a:ext cx="409575" cy="361950"/>
          </a:xfrm>
          <a:prstGeom prst="rect">
            <a:avLst/>
          </a:prstGeom>
          <a:noFill/>
          <a:ln>
            <a:noFill/>
          </a:ln>
        </p:spPr>
      </p:pic>
      <p:pic>
        <p:nvPicPr>
          <p:cNvPr descr="image.png" id="237" name="Google Shape;237;p19"/>
          <p:cNvPicPr preferRelativeResize="0"/>
          <p:nvPr/>
        </p:nvPicPr>
        <p:blipFill rotWithShape="1">
          <a:blip r:embed="rId12">
            <a:alphaModFix/>
          </a:blip>
          <a:srcRect b="0" l="0" r="0" t="0"/>
          <a:stretch/>
        </p:blipFill>
        <p:spPr>
          <a:xfrm>
            <a:off x="4726037" y="2776686"/>
            <a:ext cx="409575" cy="361950"/>
          </a:xfrm>
          <a:prstGeom prst="rect">
            <a:avLst/>
          </a:prstGeom>
          <a:noFill/>
          <a:ln>
            <a:noFill/>
          </a:ln>
        </p:spPr>
      </p:pic>
      <p:pic>
        <p:nvPicPr>
          <p:cNvPr descr="image.png" id="238" name="Google Shape;238;p19"/>
          <p:cNvPicPr preferRelativeResize="0"/>
          <p:nvPr/>
        </p:nvPicPr>
        <p:blipFill rotWithShape="1">
          <a:blip r:embed="rId13">
            <a:alphaModFix/>
          </a:blip>
          <a:srcRect b="0" l="0" r="0" t="0"/>
          <a:stretch/>
        </p:blipFill>
        <p:spPr>
          <a:xfrm>
            <a:off x="8504336" y="2776686"/>
            <a:ext cx="409575" cy="361950"/>
          </a:xfrm>
          <a:prstGeom prst="rect">
            <a:avLst/>
          </a:prstGeom>
          <a:noFill/>
          <a:ln>
            <a:noFill/>
          </a:ln>
        </p:spPr>
      </p:pic>
      <p:sp>
        <p:nvSpPr>
          <p:cNvPr id="239" name="Google Shape;239;p19"/>
          <p:cNvSpPr txBox="1"/>
          <p:nvPr/>
        </p:nvSpPr>
        <p:spPr>
          <a:xfrm>
            <a:off x="571500" y="552450"/>
            <a:ext cx="1160145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LEAN SOFTWARE TESTING</a:t>
            </a:r>
            <a:endParaRPr/>
          </a:p>
        </p:txBody>
      </p:sp>
      <p:sp>
        <p:nvSpPr>
          <p:cNvPr id="240" name="Google Shape;240;p19"/>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pic>
        <p:nvPicPr>
          <p:cNvPr descr="image.png" id="245" name="Google Shape;245;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6" name="Google Shape;246;p20"/>
          <p:cNvPicPr preferRelativeResize="0"/>
          <p:nvPr/>
        </p:nvPicPr>
        <p:blipFill rotWithShape="1">
          <a:blip r:embed="rId4">
            <a:alphaModFix/>
          </a:blip>
          <a:srcRect b="0" l="0" r="0" t="0"/>
          <a:stretch/>
        </p:blipFill>
        <p:spPr>
          <a:xfrm>
            <a:off x="6381750" y="1581150"/>
            <a:ext cx="5238750" cy="4572000"/>
          </a:xfrm>
          <a:prstGeom prst="rect">
            <a:avLst/>
          </a:prstGeom>
          <a:noFill/>
          <a:ln>
            <a:noFill/>
          </a:ln>
        </p:spPr>
      </p:pic>
      <p:pic>
        <p:nvPicPr>
          <p:cNvPr descr="image.png" id="247" name="Google Shape;247;p20"/>
          <p:cNvPicPr preferRelativeResize="0"/>
          <p:nvPr/>
        </p:nvPicPr>
        <p:blipFill rotWithShape="1">
          <a:blip r:embed="rId5">
            <a:alphaModFix/>
          </a:blip>
          <a:srcRect b="0" l="0" r="0" t="0"/>
          <a:stretch/>
        </p:blipFill>
        <p:spPr>
          <a:xfrm>
            <a:off x="571500" y="6257925"/>
            <a:ext cx="11049000" cy="314325"/>
          </a:xfrm>
          <a:prstGeom prst="rect">
            <a:avLst/>
          </a:prstGeom>
          <a:noFill/>
          <a:ln>
            <a:noFill/>
          </a:ln>
        </p:spPr>
      </p:pic>
      <p:sp>
        <p:nvSpPr>
          <p:cNvPr id="248" name="Google Shape;248;p20"/>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0"/>
          <p:cNvSpPr txBox="1"/>
          <p:nvPr/>
        </p:nvSpPr>
        <p:spPr>
          <a:xfrm>
            <a:off x="571500" y="6410325"/>
            <a:ext cx="9525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Cơ sở lý thuyết</a:t>
            </a:r>
            <a:endParaRPr/>
          </a:p>
        </p:txBody>
      </p:sp>
      <p:sp>
        <p:nvSpPr>
          <p:cNvPr id="250" name="Google Shape;250;p20"/>
          <p:cNvSpPr txBox="1"/>
          <p:nvPr/>
        </p:nvSpPr>
        <p:spPr>
          <a:xfrm>
            <a:off x="571500" y="1581150"/>
            <a:ext cx="5238750" cy="1607343"/>
          </a:xfrm>
          <a:prstGeom prst="rect">
            <a:avLst/>
          </a:prstGeom>
          <a:noFill/>
          <a:ln>
            <a:noFill/>
          </a:ln>
        </p:spPr>
        <p:txBody>
          <a:bodyPr anchorCtr="0" anchor="t" bIns="0" lIns="523875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endParaRPr/>
          </a:p>
        </p:txBody>
      </p:sp>
      <p:sp>
        <p:nvSpPr>
          <p:cNvPr id="251" name="Google Shape;251;p20"/>
          <p:cNvSpPr txBox="1"/>
          <p:nvPr/>
        </p:nvSpPr>
        <p:spPr>
          <a:xfrm>
            <a:off x="571500" y="3474243"/>
            <a:ext cx="5238750" cy="1607343"/>
          </a:xfrm>
          <a:prstGeom prst="rect">
            <a:avLst/>
          </a:prstGeom>
          <a:noFill/>
          <a:ln>
            <a:noFill/>
          </a:ln>
        </p:spPr>
        <p:txBody>
          <a:bodyPr anchorCtr="0" anchor="t" bIns="0" lIns="523875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endParaRPr/>
          </a:p>
        </p:txBody>
      </p:sp>
      <p:sp>
        <p:nvSpPr>
          <p:cNvPr id="252" name="Google Shape;252;p20"/>
          <p:cNvSpPr txBox="1"/>
          <p:nvPr/>
        </p:nvSpPr>
        <p:spPr>
          <a:xfrm>
            <a:off x="571500" y="1870620"/>
            <a:ext cx="5500687" cy="335160"/>
          </a:xfrm>
          <a:prstGeom prst="rect">
            <a:avLst/>
          </a:prstGeom>
          <a:noFill/>
          <a:ln>
            <a:noFill/>
          </a:ln>
        </p:spPr>
        <p:txBody>
          <a:bodyPr anchorCtr="0" anchor="t" bIns="0" lIns="333375"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1E3A8A"/>
                </a:solidFill>
                <a:latin typeface="Inter"/>
                <a:ea typeface="Inter"/>
                <a:cs typeface="Inter"/>
                <a:sym typeface="Inter"/>
              </a:rPr>
              <a:t>Metrics Đo Lường</a:t>
            </a:r>
            <a:endParaRPr/>
          </a:p>
        </p:txBody>
      </p:sp>
      <p:sp>
        <p:nvSpPr>
          <p:cNvPr id="253" name="Google Shape;253;p20"/>
          <p:cNvSpPr txBox="1"/>
          <p:nvPr/>
        </p:nvSpPr>
        <p:spPr>
          <a:xfrm>
            <a:off x="571500" y="2320081"/>
            <a:ext cx="523875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Theo dõi chất lượng (Defect Density, Test Coverage), Quy trình (Cycle Time, Lead Time) và Chi phí. Cung cấp dữ liệu khách quan cho các quyết định cải tiến.</a:t>
            </a:r>
            <a:endParaRPr/>
          </a:p>
        </p:txBody>
      </p:sp>
      <p:sp>
        <p:nvSpPr>
          <p:cNvPr id="254" name="Google Shape;254;p20"/>
          <p:cNvSpPr txBox="1"/>
          <p:nvPr/>
        </p:nvSpPr>
        <p:spPr>
          <a:xfrm>
            <a:off x="571500" y="3763714"/>
            <a:ext cx="5500687" cy="335160"/>
          </a:xfrm>
          <a:prstGeom prst="rect">
            <a:avLst/>
          </a:prstGeom>
          <a:noFill/>
          <a:ln>
            <a:noFill/>
          </a:ln>
        </p:spPr>
        <p:txBody>
          <a:bodyPr anchorCtr="0" anchor="t" bIns="0" lIns="30480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1E3A8A"/>
                </a:solidFill>
                <a:latin typeface="Inter"/>
                <a:ea typeface="Inter"/>
                <a:cs typeface="Inter"/>
                <a:sym typeface="Inter"/>
              </a:rPr>
              <a:t>Feedback Loops</a:t>
            </a:r>
            <a:endParaRPr/>
          </a:p>
        </p:txBody>
      </p:sp>
      <p:sp>
        <p:nvSpPr>
          <p:cNvPr id="255" name="Google Shape;255;p20"/>
          <p:cNvSpPr txBox="1"/>
          <p:nvPr/>
        </p:nvSpPr>
        <p:spPr>
          <a:xfrm>
            <a:off x="571500" y="4213175"/>
            <a:ext cx="523875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Thu thập dữ liệu sau mỗi Sprint, phân tích Root Cause, điều chỉnh quy trình kiểm thử liên tục để tạo vòng lặp học hỏi bền vững.</a:t>
            </a:r>
            <a:endParaRPr/>
          </a:p>
        </p:txBody>
      </p:sp>
      <p:pic>
        <p:nvPicPr>
          <p:cNvPr descr="image.png" id="256" name="Google Shape;256;p20"/>
          <p:cNvPicPr preferRelativeResize="0"/>
          <p:nvPr/>
        </p:nvPicPr>
        <p:blipFill rotWithShape="1">
          <a:blip r:embed="rId6">
            <a:alphaModFix/>
          </a:blip>
          <a:srcRect b="0" l="0" r="0" t="0"/>
          <a:stretch/>
        </p:blipFill>
        <p:spPr>
          <a:xfrm>
            <a:off x="571500" y="1927770"/>
            <a:ext cx="238125" cy="209550"/>
          </a:xfrm>
          <a:prstGeom prst="rect">
            <a:avLst/>
          </a:prstGeom>
          <a:noFill/>
          <a:ln>
            <a:noFill/>
          </a:ln>
        </p:spPr>
      </p:pic>
      <p:pic>
        <p:nvPicPr>
          <p:cNvPr descr="image.png" id="257" name="Google Shape;257;p20"/>
          <p:cNvPicPr preferRelativeResize="0"/>
          <p:nvPr/>
        </p:nvPicPr>
        <p:blipFill rotWithShape="1">
          <a:blip r:embed="rId7">
            <a:alphaModFix/>
          </a:blip>
          <a:srcRect b="0" l="0" r="0" t="0"/>
          <a:stretch/>
        </p:blipFill>
        <p:spPr>
          <a:xfrm>
            <a:off x="571500" y="3820864"/>
            <a:ext cx="209550" cy="209550"/>
          </a:xfrm>
          <a:prstGeom prst="rect">
            <a:avLst/>
          </a:prstGeom>
          <a:noFill/>
          <a:ln>
            <a:noFill/>
          </a:ln>
        </p:spPr>
      </p:pic>
      <p:sp>
        <p:nvSpPr>
          <p:cNvPr id="258" name="Google Shape;258;p20"/>
          <p:cNvSpPr txBox="1"/>
          <p:nvPr/>
        </p:nvSpPr>
        <p:spPr>
          <a:xfrm>
            <a:off x="571500" y="552450"/>
            <a:ext cx="1160145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METRICS &amp; FEEDBACK LOOPS</a:t>
            </a:r>
            <a:endParaRPr/>
          </a:p>
        </p:txBody>
      </p:sp>
      <p:sp>
        <p:nvSpPr>
          <p:cNvPr id="259" name="Google Shape;259;p20"/>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60" name="Google Shape;260;p20"/>
          <p:cNvPicPr preferRelativeResize="0"/>
          <p:nvPr/>
        </p:nvPicPr>
        <p:blipFill>
          <a:blip r:embed="rId8">
            <a:alphaModFix/>
          </a:blip>
          <a:stretch>
            <a:fillRect/>
          </a:stretch>
        </p:blipFill>
        <p:spPr>
          <a:xfrm>
            <a:off x="6714688" y="1698650"/>
            <a:ext cx="4572868" cy="3917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pic>
        <p:nvPicPr>
          <p:cNvPr descr="image.png" id="265" name="Google Shape;265;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6" name="Google Shape;266;p21"/>
          <p:cNvPicPr preferRelativeResize="0"/>
          <p:nvPr/>
        </p:nvPicPr>
        <p:blipFill rotWithShape="1">
          <a:blip r:embed="rId4">
            <a:alphaModFix/>
          </a:blip>
          <a:srcRect b="0" l="0" r="0" t="0"/>
          <a:stretch/>
        </p:blipFill>
        <p:spPr>
          <a:xfrm>
            <a:off x="1381125" y="2171551"/>
            <a:ext cx="3619500" cy="3619500"/>
          </a:xfrm>
          <a:prstGeom prst="rect">
            <a:avLst/>
          </a:prstGeom>
          <a:noFill/>
          <a:ln>
            <a:noFill/>
          </a:ln>
        </p:spPr>
      </p:pic>
      <p:pic>
        <p:nvPicPr>
          <p:cNvPr descr="image.png" id="267" name="Google Shape;267;p21"/>
          <p:cNvPicPr preferRelativeResize="0"/>
          <p:nvPr/>
        </p:nvPicPr>
        <p:blipFill rotWithShape="1">
          <a:blip r:embed="rId5">
            <a:alphaModFix/>
          </a:blip>
          <a:srcRect b="0" l="0" r="0" t="0"/>
          <a:stretch/>
        </p:blipFill>
        <p:spPr>
          <a:xfrm>
            <a:off x="571500" y="6257925"/>
            <a:ext cx="11049000" cy="314325"/>
          </a:xfrm>
          <a:prstGeom prst="rect">
            <a:avLst/>
          </a:prstGeom>
          <a:noFill/>
          <a:ln>
            <a:noFill/>
          </a:ln>
        </p:spPr>
      </p:pic>
      <p:sp>
        <p:nvSpPr>
          <p:cNvPr id="268" name="Google Shape;268;p21"/>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1"/>
          <p:cNvSpPr txBox="1"/>
          <p:nvPr/>
        </p:nvSpPr>
        <p:spPr>
          <a:xfrm>
            <a:off x="571500" y="6410325"/>
            <a:ext cx="3461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Đảm bảo chất lượng &amp; Kiểm thử phần mềm</a:t>
            </a:r>
            <a:endParaRPr/>
          </a:p>
        </p:txBody>
      </p:sp>
      <p:pic>
        <p:nvPicPr>
          <p:cNvPr descr="image.png" id="270" name="Google Shape;270;p21"/>
          <p:cNvPicPr preferRelativeResize="0"/>
          <p:nvPr/>
        </p:nvPicPr>
        <p:blipFill rotWithShape="1">
          <a:blip r:embed="rId6">
            <a:alphaModFix/>
          </a:blip>
          <a:srcRect b="0" l="0" r="0" t="0"/>
          <a:stretch/>
        </p:blipFill>
        <p:spPr>
          <a:xfrm>
            <a:off x="1381125" y="2171551"/>
            <a:ext cx="3619500" cy="3619500"/>
          </a:xfrm>
          <a:prstGeom prst="rect">
            <a:avLst/>
          </a:prstGeom>
          <a:noFill/>
          <a:ln>
            <a:noFill/>
          </a:ln>
        </p:spPr>
      </p:pic>
      <p:sp>
        <p:nvSpPr>
          <p:cNvPr id="271" name="Google Shape;271;p21"/>
          <p:cNvSpPr txBox="1"/>
          <p:nvPr/>
        </p:nvSpPr>
        <p:spPr>
          <a:xfrm>
            <a:off x="7000875" y="1791890"/>
            <a:ext cx="4850606" cy="2952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Inter"/>
                <a:ea typeface="Inter"/>
                <a:cs typeface="Inter"/>
                <a:sym typeface="Inter"/>
              </a:rPr>
              <a:t>Dự án E-commerce Lite</a:t>
            </a:r>
            <a:endParaRPr/>
          </a:p>
        </p:txBody>
      </p:sp>
      <p:sp>
        <p:nvSpPr>
          <p:cNvPr id="272" name="Google Shape;272;p21"/>
          <p:cNvSpPr txBox="1"/>
          <p:nvPr/>
        </p:nvSpPr>
        <p:spPr>
          <a:xfrm>
            <a:off x="6953250" y="2201465"/>
            <a:ext cx="46672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Ứng dụng quản lý bán hàng quy mô vừa.</a:t>
            </a:r>
            <a:endParaRPr/>
          </a:p>
        </p:txBody>
      </p:sp>
      <p:sp>
        <p:nvSpPr>
          <p:cNvPr id="273" name="Google Shape;273;p21"/>
          <p:cNvSpPr txBox="1"/>
          <p:nvPr/>
        </p:nvSpPr>
        <p:spPr>
          <a:xfrm>
            <a:off x="7000875" y="2729061"/>
            <a:ext cx="4850606" cy="2952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Inter"/>
                <a:ea typeface="Inter"/>
                <a:cs typeface="Inter"/>
                <a:sym typeface="Inter"/>
              </a:rPr>
              <a:t>Nhóm 8–12 người</a:t>
            </a:r>
            <a:endParaRPr/>
          </a:p>
        </p:txBody>
      </p:sp>
      <p:sp>
        <p:nvSpPr>
          <p:cNvPr id="274" name="Google Shape;274;p21"/>
          <p:cNvSpPr txBox="1"/>
          <p:nvPr/>
        </p:nvSpPr>
        <p:spPr>
          <a:xfrm>
            <a:off x="6953250" y="3138636"/>
            <a:ext cx="46672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Bao gồm Developer kiêm Tester và 1–2 Tester chuyên trách.</a:t>
            </a:r>
            <a:endParaRPr/>
          </a:p>
        </p:txBody>
      </p:sp>
      <p:sp>
        <p:nvSpPr>
          <p:cNvPr id="275" name="Google Shape;275;p21"/>
          <p:cNvSpPr txBox="1"/>
          <p:nvPr/>
        </p:nvSpPr>
        <p:spPr>
          <a:xfrm>
            <a:off x="6943725" y="3955702"/>
            <a:ext cx="4910613" cy="2952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2563EB"/>
                </a:solidFill>
                <a:latin typeface="Inter"/>
                <a:ea typeface="Inter"/>
                <a:cs typeface="Inter"/>
                <a:sym typeface="Inter"/>
              </a:rPr>
              <a:t>Thực trạng</a:t>
            </a:r>
            <a:endParaRPr/>
          </a:p>
        </p:txBody>
      </p:sp>
      <p:sp>
        <p:nvSpPr>
          <p:cNvPr id="276" name="Google Shape;276;p21"/>
          <p:cNvSpPr txBox="1"/>
          <p:nvPr/>
        </p:nvSpPr>
        <p:spPr>
          <a:xfrm>
            <a:off x="6953250" y="4365277"/>
            <a:ext cx="46672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Kiểm thử thủ công chủ yếu, thiếu Test Plan, Test Coverage chỉ đạt khoảng 40–50%.</a:t>
            </a:r>
            <a:endParaRPr/>
          </a:p>
        </p:txBody>
      </p:sp>
      <p:sp>
        <p:nvSpPr>
          <p:cNvPr id="277" name="Google Shape;277;p21"/>
          <p:cNvSpPr txBox="1"/>
          <p:nvPr/>
        </p:nvSpPr>
        <p:spPr>
          <a:xfrm>
            <a:off x="6943725" y="5182344"/>
            <a:ext cx="4910613" cy="2952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EF4444"/>
                </a:solidFill>
                <a:latin typeface="Inter"/>
                <a:ea typeface="Inter"/>
                <a:cs typeface="Inter"/>
                <a:sym typeface="Inter"/>
              </a:rPr>
              <a:t>Vấn đề cốt lõi</a:t>
            </a:r>
            <a:endParaRPr/>
          </a:p>
        </p:txBody>
      </p:sp>
      <p:sp>
        <p:nvSpPr>
          <p:cNvPr id="278" name="Google Shape;278;p21"/>
          <p:cNvSpPr txBox="1"/>
          <p:nvPr/>
        </p:nvSpPr>
        <p:spPr>
          <a:xfrm>
            <a:off x="6953250" y="5591919"/>
            <a:ext cx="46672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Mật độ lỗi cao, lead time kéo dài, phát sinh nhiều lãng phí trong quy trình phát triển.</a:t>
            </a:r>
            <a:endParaRPr/>
          </a:p>
        </p:txBody>
      </p:sp>
      <p:pic>
        <p:nvPicPr>
          <p:cNvPr descr="image.png" id="279" name="Google Shape;279;p21"/>
          <p:cNvPicPr preferRelativeResize="0"/>
          <p:nvPr/>
        </p:nvPicPr>
        <p:blipFill rotWithShape="1">
          <a:blip r:embed="rId7">
            <a:alphaModFix/>
          </a:blip>
          <a:srcRect b="0" l="0" r="0" t="0"/>
          <a:stretch/>
        </p:blipFill>
        <p:spPr>
          <a:xfrm>
            <a:off x="6572250" y="1825228"/>
            <a:ext cx="285750" cy="228600"/>
          </a:xfrm>
          <a:prstGeom prst="rect">
            <a:avLst/>
          </a:prstGeom>
          <a:noFill/>
          <a:ln>
            <a:noFill/>
          </a:ln>
        </p:spPr>
      </p:pic>
      <p:pic>
        <p:nvPicPr>
          <p:cNvPr descr="image.png" id="280" name="Google Shape;280;p21"/>
          <p:cNvPicPr preferRelativeResize="0"/>
          <p:nvPr/>
        </p:nvPicPr>
        <p:blipFill rotWithShape="1">
          <a:blip r:embed="rId8">
            <a:alphaModFix/>
          </a:blip>
          <a:srcRect b="0" l="0" r="0" t="0"/>
          <a:stretch/>
        </p:blipFill>
        <p:spPr>
          <a:xfrm>
            <a:off x="6572250" y="2762398"/>
            <a:ext cx="285750" cy="228600"/>
          </a:xfrm>
          <a:prstGeom prst="rect">
            <a:avLst/>
          </a:prstGeom>
          <a:noFill/>
          <a:ln>
            <a:noFill/>
          </a:ln>
        </p:spPr>
      </p:pic>
      <p:pic>
        <p:nvPicPr>
          <p:cNvPr descr="image.png" id="281" name="Google Shape;281;p21"/>
          <p:cNvPicPr preferRelativeResize="0"/>
          <p:nvPr/>
        </p:nvPicPr>
        <p:blipFill rotWithShape="1">
          <a:blip r:embed="rId9">
            <a:alphaModFix/>
          </a:blip>
          <a:srcRect b="0" l="0" r="0" t="0"/>
          <a:stretch/>
        </p:blipFill>
        <p:spPr>
          <a:xfrm>
            <a:off x="6572250" y="3989040"/>
            <a:ext cx="228600" cy="228600"/>
          </a:xfrm>
          <a:prstGeom prst="rect">
            <a:avLst/>
          </a:prstGeom>
          <a:noFill/>
          <a:ln>
            <a:noFill/>
          </a:ln>
        </p:spPr>
      </p:pic>
      <p:pic>
        <p:nvPicPr>
          <p:cNvPr descr="image.png" id="282" name="Google Shape;282;p21"/>
          <p:cNvPicPr preferRelativeResize="0"/>
          <p:nvPr/>
        </p:nvPicPr>
        <p:blipFill rotWithShape="1">
          <a:blip r:embed="rId10">
            <a:alphaModFix/>
          </a:blip>
          <a:srcRect b="0" l="0" r="0" t="0"/>
          <a:stretch/>
        </p:blipFill>
        <p:spPr>
          <a:xfrm>
            <a:off x="6572250" y="5215681"/>
            <a:ext cx="228600" cy="228600"/>
          </a:xfrm>
          <a:prstGeom prst="rect">
            <a:avLst/>
          </a:prstGeom>
          <a:noFill/>
          <a:ln>
            <a:noFill/>
          </a:ln>
        </p:spPr>
      </p:pic>
      <p:sp>
        <p:nvSpPr>
          <p:cNvPr id="283" name="Google Shape;283;p21"/>
          <p:cNvSpPr txBox="1"/>
          <p:nvPr/>
        </p:nvSpPr>
        <p:spPr>
          <a:xfrm>
            <a:off x="571500" y="552450"/>
            <a:ext cx="1160145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NGỮ CẢNH BÀI TOÁN</a:t>
            </a:r>
            <a:endParaRPr/>
          </a:p>
        </p:txBody>
      </p:sp>
      <p:sp>
        <p:nvSpPr>
          <p:cNvPr id="284" name="Google Shape;284;p21"/>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pic>
        <p:nvPicPr>
          <p:cNvPr descr="image.png" id="289" name="Google Shape;289;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0" name="Google Shape;290;p22"/>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2"/>
          <p:cNvSpPr txBox="1"/>
          <p:nvPr/>
        </p:nvSpPr>
        <p:spPr>
          <a:xfrm>
            <a:off x="2871787" y="1581150"/>
            <a:ext cx="6448500" cy="335100"/>
          </a:xfrm>
          <a:prstGeom prst="rect">
            <a:avLst/>
          </a:prstGeom>
          <a:noFill/>
          <a:ln>
            <a:noFill/>
          </a:ln>
        </p:spPr>
        <p:txBody>
          <a:bodyPr anchorCtr="0" anchor="t" bIns="0" lIns="30480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1E3A8A"/>
                </a:solidFill>
                <a:latin typeface="Inter SemiBold"/>
                <a:ea typeface="Inter SemiBold"/>
                <a:cs typeface="Inter SemiBold"/>
                <a:sym typeface="Inter SemiBold"/>
              </a:rPr>
              <a:t>Vòng lặp liên tục: Đo lường → Phân tích → Cải tiến → Lặp lại</a:t>
            </a:r>
            <a:endParaRPr/>
          </a:p>
        </p:txBody>
      </p:sp>
      <p:pic>
        <p:nvPicPr>
          <p:cNvPr descr="image.png" id="292" name="Google Shape;292;p22"/>
          <p:cNvPicPr preferRelativeResize="0"/>
          <p:nvPr/>
        </p:nvPicPr>
        <p:blipFill rotWithShape="1">
          <a:blip r:embed="rId4">
            <a:alphaModFix/>
          </a:blip>
          <a:srcRect b="0" l="0" r="0" t="0"/>
          <a:stretch/>
        </p:blipFill>
        <p:spPr>
          <a:xfrm>
            <a:off x="2871787" y="1638300"/>
            <a:ext cx="209550" cy="209550"/>
          </a:xfrm>
          <a:prstGeom prst="rect">
            <a:avLst/>
          </a:prstGeom>
          <a:noFill/>
          <a:ln>
            <a:noFill/>
          </a:ln>
        </p:spPr>
      </p:pic>
      <p:sp>
        <p:nvSpPr>
          <p:cNvPr id="293" name="Google Shape;293;p22"/>
          <p:cNvSpPr/>
          <p:nvPr/>
        </p:nvSpPr>
        <p:spPr>
          <a:xfrm>
            <a:off x="1333500" y="2202052"/>
            <a:ext cx="9525000" cy="914100"/>
          </a:xfrm>
          <a:prstGeom prst="roundRect">
            <a:avLst>
              <a:gd fmla="val 809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2"/>
          <p:cNvSpPr txBox="1"/>
          <p:nvPr/>
        </p:nvSpPr>
        <p:spPr>
          <a:xfrm>
            <a:off x="1952625" y="2344485"/>
            <a:ext cx="86679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1E3A8A"/>
                </a:solidFill>
                <a:latin typeface="Inter"/>
                <a:ea typeface="Inter"/>
                <a:cs typeface="Inter"/>
                <a:sym typeface="Inter"/>
              </a:rPr>
              <a:t>Bước 1 – Foundation (Test Management)</a:t>
            </a:r>
            <a:r>
              <a:rPr b="0" i="0" lang="en-US" sz="1425" u="none" cap="none" strike="noStrike">
                <a:solidFill>
                  <a:srgbClr val="475569"/>
                </a:solidFill>
                <a:latin typeface="Inter"/>
                <a:ea typeface="Inter"/>
                <a:cs typeface="Inter"/>
                <a:sym typeface="Inter"/>
              </a:rPr>
              <a:t> Xây dựng Test Policy, thiết lập Test Plan theo từng Sprint và phân công ma trận RACI rõ ràng.</a:t>
            </a:r>
            <a:endParaRPr/>
          </a:p>
        </p:txBody>
      </p:sp>
      <p:sp>
        <p:nvSpPr>
          <p:cNvPr id="295" name="Google Shape;295;p22"/>
          <p:cNvSpPr/>
          <p:nvPr/>
        </p:nvSpPr>
        <p:spPr>
          <a:xfrm>
            <a:off x="1333500" y="2202053"/>
            <a:ext cx="47700" cy="9141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22"/>
          <p:cNvSpPr/>
          <p:nvPr/>
        </p:nvSpPr>
        <p:spPr>
          <a:xfrm>
            <a:off x="1333525" y="3273926"/>
            <a:ext cx="9525000" cy="914100"/>
          </a:xfrm>
          <a:prstGeom prst="roundRect">
            <a:avLst>
              <a:gd fmla="val 809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22"/>
          <p:cNvSpPr txBox="1"/>
          <p:nvPr/>
        </p:nvSpPr>
        <p:spPr>
          <a:xfrm>
            <a:off x="1923975" y="3473505"/>
            <a:ext cx="86679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1E3A8A"/>
                </a:solidFill>
                <a:latin typeface="Inter"/>
                <a:ea typeface="Inter"/>
                <a:cs typeface="Inter"/>
                <a:sym typeface="Inter"/>
              </a:rPr>
              <a:t>Bước 2 – Lean Optimization</a:t>
            </a:r>
            <a:r>
              <a:rPr b="0" i="0" lang="en-US" sz="1425" u="none" cap="none" strike="noStrike">
                <a:solidFill>
                  <a:srgbClr val="475569"/>
                </a:solidFill>
                <a:latin typeface="Inter"/>
                <a:ea typeface="Inter"/>
                <a:cs typeface="Inter"/>
                <a:sym typeface="Inter"/>
              </a:rPr>
              <a:t> Áp dụng Kanban Board, giới hạn khối lượng công việc (WIP), tự động hóa CI/CD với GitHub Actions.</a:t>
            </a:r>
            <a:endParaRPr/>
          </a:p>
        </p:txBody>
      </p:sp>
      <p:sp>
        <p:nvSpPr>
          <p:cNvPr id="298" name="Google Shape;298;p22"/>
          <p:cNvSpPr/>
          <p:nvPr/>
        </p:nvSpPr>
        <p:spPr>
          <a:xfrm>
            <a:off x="1333500" y="3273923"/>
            <a:ext cx="47700" cy="9141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22"/>
          <p:cNvSpPr/>
          <p:nvPr/>
        </p:nvSpPr>
        <p:spPr>
          <a:xfrm>
            <a:off x="1333500" y="4324800"/>
            <a:ext cx="9525000" cy="914100"/>
          </a:xfrm>
          <a:prstGeom prst="roundRect">
            <a:avLst>
              <a:gd fmla="val 809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2"/>
          <p:cNvSpPr txBox="1"/>
          <p:nvPr/>
        </p:nvSpPr>
        <p:spPr>
          <a:xfrm>
            <a:off x="1923975" y="4431512"/>
            <a:ext cx="86679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1E3A8A"/>
                </a:solidFill>
                <a:latin typeface="Inter"/>
                <a:ea typeface="Inter"/>
                <a:cs typeface="Inter"/>
                <a:sym typeface="Inter"/>
              </a:rPr>
              <a:t>Bước 3 – Metrics &amp; Monitoring</a:t>
            </a:r>
            <a:r>
              <a:rPr b="0" i="0" lang="en-US" sz="1425" u="none" cap="none" strike="noStrike">
                <a:solidFill>
                  <a:srgbClr val="475569"/>
                </a:solidFill>
                <a:latin typeface="Inter"/>
                <a:ea typeface="Inter"/>
                <a:cs typeface="Inter"/>
                <a:sym typeface="Inter"/>
              </a:rPr>
              <a:t> Thiết lập hệ thống Dashboard theo dõi: Test Coverage, Defect Density, và Cycle Time.</a:t>
            </a:r>
            <a:endParaRPr/>
          </a:p>
        </p:txBody>
      </p:sp>
      <p:sp>
        <p:nvSpPr>
          <p:cNvPr id="301" name="Google Shape;301;p22"/>
          <p:cNvSpPr/>
          <p:nvPr/>
        </p:nvSpPr>
        <p:spPr>
          <a:xfrm>
            <a:off x="1333500" y="4345800"/>
            <a:ext cx="47700" cy="9141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22"/>
          <p:cNvSpPr/>
          <p:nvPr/>
        </p:nvSpPr>
        <p:spPr>
          <a:xfrm>
            <a:off x="1333500" y="5371376"/>
            <a:ext cx="9525000" cy="914100"/>
          </a:xfrm>
          <a:prstGeom prst="roundRect">
            <a:avLst>
              <a:gd fmla="val 809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22"/>
          <p:cNvSpPr txBox="1"/>
          <p:nvPr/>
        </p:nvSpPr>
        <p:spPr>
          <a:xfrm>
            <a:off x="1865800" y="5545705"/>
            <a:ext cx="86679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1E3A8A"/>
                </a:solidFill>
                <a:latin typeface="Inter"/>
                <a:ea typeface="Inter"/>
                <a:cs typeface="Inter"/>
                <a:sym typeface="Inter"/>
              </a:rPr>
              <a:t>Bước 4 – Feedback Loop</a:t>
            </a:r>
            <a:r>
              <a:rPr b="0" i="0" lang="en-US" sz="1425" u="none" cap="none" strike="noStrike">
                <a:solidFill>
                  <a:srgbClr val="475569"/>
                </a:solidFill>
                <a:latin typeface="Inter"/>
                <a:ea typeface="Inter"/>
                <a:cs typeface="Inter"/>
                <a:sym typeface="Inter"/>
              </a:rPr>
              <a:t> Thực hiện Sprint Retrospective 2 tuần/lần, phân tích RCA lỗi production, và khảo sát điểm NPS.</a:t>
            </a:r>
            <a:endParaRPr/>
          </a:p>
        </p:txBody>
      </p:sp>
      <p:sp>
        <p:nvSpPr>
          <p:cNvPr id="304" name="Google Shape;304;p22"/>
          <p:cNvSpPr/>
          <p:nvPr/>
        </p:nvSpPr>
        <p:spPr>
          <a:xfrm>
            <a:off x="1333500" y="5375676"/>
            <a:ext cx="47700" cy="9141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05" name="Google Shape;305;p22"/>
          <p:cNvPicPr preferRelativeResize="0"/>
          <p:nvPr/>
        </p:nvPicPr>
        <p:blipFill rotWithShape="1">
          <a:blip r:embed="rId5">
            <a:alphaModFix/>
          </a:blip>
          <a:srcRect b="0" l="0" r="0" t="0"/>
          <a:stretch/>
        </p:blipFill>
        <p:spPr>
          <a:xfrm>
            <a:off x="1571625" y="2435423"/>
            <a:ext cx="123825" cy="257175"/>
          </a:xfrm>
          <a:prstGeom prst="rect">
            <a:avLst/>
          </a:prstGeom>
          <a:noFill/>
          <a:ln>
            <a:noFill/>
          </a:ln>
        </p:spPr>
      </p:pic>
      <p:pic>
        <p:nvPicPr>
          <p:cNvPr descr="image.png" id="306" name="Google Shape;306;p22"/>
          <p:cNvPicPr preferRelativeResize="0"/>
          <p:nvPr/>
        </p:nvPicPr>
        <p:blipFill rotWithShape="1">
          <a:blip r:embed="rId6">
            <a:alphaModFix/>
          </a:blip>
          <a:srcRect b="0" l="0" r="0" t="0"/>
          <a:stretch/>
        </p:blipFill>
        <p:spPr>
          <a:xfrm>
            <a:off x="1571625" y="3546805"/>
            <a:ext cx="161925" cy="257175"/>
          </a:xfrm>
          <a:prstGeom prst="rect">
            <a:avLst/>
          </a:prstGeom>
          <a:noFill/>
          <a:ln>
            <a:noFill/>
          </a:ln>
        </p:spPr>
      </p:pic>
      <p:pic>
        <p:nvPicPr>
          <p:cNvPr descr="image.png" id="307" name="Google Shape;307;p22"/>
          <p:cNvPicPr preferRelativeResize="0"/>
          <p:nvPr/>
        </p:nvPicPr>
        <p:blipFill rotWithShape="1">
          <a:blip r:embed="rId7">
            <a:alphaModFix/>
          </a:blip>
          <a:srcRect b="0" l="0" r="0" t="0"/>
          <a:stretch/>
        </p:blipFill>
        <p:spPr>
          <a:xfrm>
            <a:off x="1571625" y="4506261"/>
            <a:ext cx="161925" cy="257175"/>
          </a:xfrm>
          <a:prstGeom prst="rect">
            <a:avLst/>
          </a:prstGeom>
          <a:noFill/>
          <a:ln>
            <a:noFill/>
          </a:ln>
        </p:spPr>
      </p:pic>
      <p:pic>
        <p:nvPicPr>
          <p:cNvPr descr="image.png" id="308" name="Google Shape;308;p22"/>
          <p:cNvPicPr preferRelativeResize="0"/>
          <p:nvPr/>
        </p:nvPicPr>
        <p:blipFill rotWithShape="1">
          <a:blip r:embed="rId8">
            <a:alphaModFix/>
          </a:blip>
          <a:srcRect b="0" l="0" r="0" t="0"/>
          <a:stretch/>
        </p:blipFill>
        <p:spPr>
          <a:xfrm>
            <a:off x="1557338" y="5595918"/>
            <a:ext cx="190500" cy="257175"/>
          </a:xfrm>
          <a:prstGeom prst="rect">
            <a:avLst/>
          </a:prstGeom>
          <a:noFill/>
          <a:ln>
            <a:noFill/>
          </a:ln>
        </p:spPr>
      </p:pic>
      <p:sp>
        <p:nvSpPr>
          <p:cNvPr id="309" name="Google Shape;309;p22"/>
          <p:cNvSpPr txBox="1"/>
          <p:nvPr/>
        </p:nvSpPr>
        <p:spPr>
          <a:xfrm>
            <a:off x="571500" y="552450"/>
            <a:ext cx="1160145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LỘ TRÌNH TỔNG QUAN</a:t>
            </a:r>
            <a:endParaRPr/>
          </a:p>
        </p:txBody>
      </p:sp>
      <p:sp>
        <p:nvSpPr>
          <p:cNvPr id="310" name="Google Shape;310;p22"/>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pic>
        <p:nvPicPr>
          <p:cNvPr descr="image.png" id="315" name="Google Shape;315;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16" name="Google Shape;316;p23"/>
          <p:cNvPicPr preferRelativeResize="0"/>
          <p:nvPr/>
        </p:nvPicPr>
        <p:blipFill rotWithShape="1">
          <a:blip r:embed="rId4">
            <a:alphaModFix/>
          </a:blip>
          <a:srcRect b="0" l="0" r="0" t="0"/>
          <a:stretch/>
        </p:blipFill>
        <p:spPr>
          <a:xfrm>
            <a:off x="571500" y="1581150"/>
            <a:ext cx="5238750" cy="4957911"/>
          </a:xfrm>
          <a:prstGeom prst="rect">
            <a:avLst/>
          </a:prstGeom>
          <a:noFill/>
          <a:ln>
            <a:noFill/>
          </a:ln>
        </p:spPr>
      </p:pic>
      <p:pic>
        <p:nvPicPr>
          <p:cNvPr descr="image.png" id="317" name="Google Shape;317;p23"/>
          <p:cNvPicPr preferRelativeResize="0"/>
          <p:nvPr/>
        </p:nvPicPr>
        <p:blipFill rotWithShape="1">
          <a:blip r:embed="rId5">
            <a:alphaModFix/>
          </a:blip>
          <a:srcRect b="0" l="0" r="0" t="0"/>
          <a:stretch/>
        </p:blipFill>
        <p:spPr>
          <a:xfrm>
            <a:off x="6381750" y="1581150"/>
            <a:ext cx="5238750" cy="4957911"/>
          </a:xfrm>
          <a:prstGeom prst="rect">
            <a:avLst/>
          </a:prstGeom>
          <a:noFill/>
          <a:ln>
            <a:noFill/>
          </a:ln>
        </p:spPr>
      </p:pic>
      <p:sp>
        <p:nvSpPr>
          <p:cNvPr id="318" name="Google Shape;318;p23"/>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19" name="Google Shape;319;p23"/>
          <p:cNvPicPr preferRelativeResize="0"/>
          <p:nvPr/>
        </p:nvPicPr>
        <p:blipFill rotWithShape="1">
          <a:blip r:embed="rId6">
            <a:alphaModFix/>
          </a:blip>
          <a:srcRect b="0" l="0" r="0" t="0"/>
          <a:stretch/>
        </p:blipFill>
        <p:spPr>
          <a:xfrm>
            <a:off x="962025" y="2019300"/>
            <a:ext cx="4457700" cy="285750"/>
          </a:xfrm>
          <a:prstGeom prst="rect">
            <a:avLst/>
          </a:prstGeom>
          <a:noFill/>
          <a:ln>
            <a:noFill/>
          </a:ln>
        </p:spPr>
      </p:pic>
      <p:sp>
        <p:nvSpPr>
          <p:cNvPr id="320" name="Google Shape;320;p23"/>
          <p:cNvSpPr txBox="1"/>
          <p:nvPr/>
        </p:nvSpPr>
        <p:spPr>
          <a:xfrm>
            <a:off x="961950" y="2933700"/>
            <a:ext cx="45504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1" i="0" lang="en-US" sz="1425" u="none" cap="none" strike="noStrike">
                <a:solidFill>
                  <a:srgbClr val="475569"/>
                </a:solidFill>
                <a:latin typeface="Inter"/>
                <a:ea typeface="Inter"/>
                <a:cs typeface="Inter"/>
                <a:sym typeface="Inter"/>
              </a:rPr>
              <a:t>Xây dựng Test Policy:</a:t>
            </a:r>
            <a:r>
              <a:rPr b="0" i="0" lang="en-US" sz="1425" u="none" cap="none" strike="noStrike">
                <a:solidFill>
                  <a:srgbClr val="475569"/>
                </a:solidFill>
                <a:latin typeface="Inter"/>
                <a:ea typeface="Inter"/>
                <a:cs typeface="Inter"/>
                <a:sym typeface="Inter"/>
              </a:rPr>
              <a:t> Định nghĩa các tiêu chuẩn chất lượng và phạm vi kiểm thử toàn dự án.</a:t>
            </a:r>
            <a:endParaRPr/>
          </a:p>
        </p:txBody>
      </p:sp>
      <p:sp>
        <p:nvSpPr>
          <p:cNvPr id="321" name="Google Shape;321;p23"/>
          <p:cNvSpPr txBox="1"/>
          <p:nvPr/>
        </p:nvSpPr>
        <p:spPr>
          <a:xfrm>
            <a:off x="962025" y="3665050"/>
            <a:ext cx="45504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1" i="0" lang="en-US" sz="1425" u="none" cap="none" strike="noStrike">
                <a:solidFill>
                  <a:srgbClr val="475569"/>
                </a:solidFill>
                <a:latin typeface="Inter"/>
                <a:ea typeface="Inter"/>
                <a:cs typeface="Inter"/>
                <a:sym typeface="Inter"/>
              </a:rPr>
              <a:t>Lập Test Plan:</a:t>
            </a:r>
            <a:r>
              <a:rPr b="0" i="0" lang="en-US" sz="1425" u="none" cap="none" strike="noStrike">
                <a:solidFill>
                  <a:srgbClr val="475569"/>
                </a:solidFill>
                <a:latin typeface="Inter"/>
                <a:ea typeface="Inter"/>
                <a:cs typeface="Inter"/>
                <a:sym typeface="Inter"/>
              </a:rPr>
              <a:t> Xác định mục tiêu, tài nguyên, lịch trình cho từng Sprint cụ thể.</a:t>
            </a:r>
            <a:endParaRPr/>
          </a:p>
        </p:txBody>
      </p:sp>
      <p:sp>
        <p:nvSpPr>
          <p:cNvPr id="322" name="Google Shape;322;p23"/>
          <p:cNvSpPr txBox="1"/>
          <p:nvPr/>
        </p:nvSpPr>
        <p:spPr>
          <a:xfrm>
            <a:off x="962025" y="4396375"/>
            <a:ext cx="45504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1" i="0" lang="en-US" sz="1425" u="none" cap="none" strike="noStrike">
                <a:solidFill>
                  <a:srgbClr val="475569"/>
                </a:solidFill>
                <a:latin typeface="Inter"/>
                <a:ea typeface="Inter"/>
                <a:cs typeface="Inter"/>
                <a:sym typeface="Inter"/>
              </a:rPr>
              <a:t>Phân công RACI:</a:t>
            </a:r>
            <a:r>
              <a:rPr b="0" i="0" lang="en-US" sz="1425" u="none" cap="none" strike="noStrike">
                <a:solidFill>
                  <a:srgbClr val="475569"/>
                </a:solidFill>
                <a:latin typeface="Inter"/>
                <a:ea typeface="Inter"/>
                <a:cs typeface="Inter"/>
                <a:sym typeface="Inter"/>
              </a:rPr>
              <a:t> Xác định rõ người chịu trách nhiệm (Responsible - Accountable - Consulted - Informed).</a:t>
            </a:r>
            <a:endParaRPr/>
          </a:p>
        </p:txBody>
      </p:sp>
      <p:sp>
        <p:nvSpPr>
          <p:cNvPr id="323" name="Google Shape;323;p23"/>
          <p:cNvSpPr txBox="1"/>
          <p:nvPr/>
        </p:nvSpPr>
        <p:spPr>
          <a:xfrm>
            <a:off x="962025" y="5417200"/>
            <a:ext cx="44577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1" i="0" lang="en-US" sz="1425" u="none" cap="none" strike="noStrike">
                <a:solidFill>
                  <a:srgbClr val="475569"/>
                </a:solidFill>
                <a:latin typeface="Inter"/>
                <a:ea typeface="Inter"/>
                <a:cs typeface="Inter"/>
                <a:sym typeface="Inter"/>
              </a:rPr>
              <a:t>Quy trình Report:</a:t>
            </a:r>
            <a:r>
              <a:rPr b="0" i="0" lang="en-US" sz="1425" u="none" cap="none" strike="noStrike">
                <a:solidFill>
                  <a:srgbClr val="475569"/>
                </a:solidFill>
                <a:latin typeface="Inter"/>
                <a:ea typeface="Inter"/>
                <a:cs typeface="Inter"/>
                <a:sym typeface="Inter"/>
              </a:rPr>
              <a:t> Thiết lập quy trình báo cáo lỗi chuẩn hóa trên nền tảng Jira.</a:t>
            </a:r>
            <a:endParaRPr/>
          </a:p>
        </p:txBody>
      </p:sp>
      <p:pic>
        <p:nvPicPr>
          <p:cNvPr descr="image.png" id="324" name="Google Shape;324;p23"/>
          <p:cNvPicPr preferRelativeResize="0"/>
          <p:nvPr/>
        </p:nvPicPr>
        <p:blipFill rotWithShape="1">
          <a:blip r:embed="rId7">
            <a:alphaModFix/>
          </a:blip>
          <a:srcRect b="0" l="0" r="0" t="0"/>
          <a:stretch/>
        </p:blipFill>
        <p:spPr>
          <a:xfrm>
            <a:off x="6772275" y="2019300"/>
            <a:ext cx="4457700" cy="285750"/>
          </a:xfrm>
          <a:prstGeom prst="rect">
            <a:avLst/>
          </a:prstGeom>
          <a:noFill/>
          <a:ln>
            <a:noFill/>
          </a:ln>
        </p:spPr>
      </p:pic>
      <p:sp>
        <p:nvSpPr>
          <p:cNvPr id="325" name="Google Shape;325;p23"/>
          <p:cNvSpPr txBox="1"/>
          <p:nvPr/>
        </p:nvSpPr>
        <p:spPr>
          <a:xfrm>
            <a:off x="7010400" y="2933700"/>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1" i="0" lang="en-US" sz="1425" u="none" cap="none" strike="noStrike">
                <a:solidFill>
                  <a:srgbClr val="475569"/>
                </a:solidFill>
                <a:latin typeface="Inter"/>
                <a:ea typeface="Inter"/>
                <a:cs typeface="Inter"/>
                <a:sym typeface="Inter"/>
              </a:rPr>
              <a:t>Kanban Board:</a:t>
            </a:r>
            <a:r>
              <a:rPr b="0" i="0" lang="en-US" sz="1425" u="none" cap="none" strike="noStrike">
                <a:solidFill>
                  <a:srgbClr val="475569"/>
                </a:solidFill>
                <a:latin typeface="Inter"/>
                <a:ea typeface="Inter"/>
                <a:cs typeface="Inter"/>
                <a:sym typeface="Inter"/>
              </a:rPr>
              <a:t> Trực quan hóa toàn bộ luồng công việc kiểm thử của team.</a:t>
            </a:r>
            <a:endParaRPr/>
          </a:p>
        </p:txBody>
      </p:sp>
      <p:sp>
        <p:nvSpPr>
          <p:cNvPr id="326" name="Google Shape;326;p23"/>
          <p:cNvSpPr txBox="1"/>
          <p:nvPr/>
        </p:nvSpPr>
        <p:spPr>
          <a:xfrm>
            <a:off x="7010400" y="3665041"/>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1" i="0" lang="en-US" sz="1425" u="none" cap="none" strike="noStrike">
                <a:solidFill>
                  <a:srgbClr val="475569"/>
                </a:solidFill>
                <a:latin typeface="Inter"/>
                <a:ea typeface="Inter"/>
                <a:cs typeface="Inter"/>
                <a:sym typeface="Inter"/>
              </a:rPr>
              <a:t>Giới hạn WIP:</a:t>
            </a:r>
            <a:r>
              <a:rPr b="0" i="0" lang="en-US" sz="1425" u="none" cap="none" strike="noStrike">
                <a:solidFill>
                  <a:srgbClr val="475569"/>
                </a:solidFill>
                <a:latin typeface="Inter"/>
                <a:ea typeface="Inter"/>
                <a:cs typeface="Inter"/>
                <a:sym typeface="Inter"/>
              </a:rPr>
              <a:t> Chỉ 4–5 stories/cột để giảm đa nhiệm, tăng cường tập trung xử lý dứt điểm.</a:t>
            </a:r>
            <a:endParaRPr/>
          </a:p>
        </p:txBody>
      </p:sp>
      <p:sp>
        <p:nvSpPr>
          <p:cNvPr id="327" name="Google Shape;327;p23"/>
          <p:cNvSpPr txBox="1"/>
          <p:nvPr/>
        </p:nvSpPr>
        <p:spPr>
          <a:xfrm>
            <a:off x="7010400" y="4396382"/>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1" i="0" lang="en-US" sz="1425" u="none" cap="none" strike="noStrike">
                <a:solidFill>
                  <a:srgbClr val="475569"/>
                </a:solidFill>
                <a:latin typeface="Inter"/>
                <a:ea typeface="Inter"/>
                <a:cs typeface="Inter"/>
                <a:sym typeface="Inter"/>
              </a:rPr>
              <a:t>Tự động hóa CI/CD:</a:t>
            </a:r>
            <a:r>
              <a:rPr b="0" i="0" lang="en-US" sz="1425" u="none" cap="none" strike="noStrike">
                <a:solidFill>
                  <a:srgbClr val="475569"/>
                </a:solidFill>
                <a:latin typeface="Inter"/>
                <a:ea typeface="Inter"/>
                <a:cs typeface="Inter"/>
                <a:sym typeface="Inter"/>
              </a:rPr>
              <a:t> Sử dụng GitHub Actions chạy test tự động sau mỗi lần commit.</a:t>
            </a:r>
            <a:endParaRPr/>
          </a:p>
        </p:txBody>
      </p:sp>
      <p:sp>
        <p:nvSpPr>
          <p:cNvPr id="328" name="Google Shape;328;p23"/>
          <p:cNvSpPr txBox="1"/>
          <p:nvPr/>
        </p:nvSpPr>
        <p:spPr>
          <a:xfrm>
            <a:off x="7010400" y="5127724"/>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1" i="0" lang="en-US" sz="1425" u="none" cap="none" strike="noStrike">
                <a:solidFill>
                  <a:srgbClr val="475569"/>
                </a:solidFill>
                <a:latin typeface="Inter"/>
                <a:ea typeface="Inter"/>
                <a:cs typeface="Inter"/>
                <a:sym typeface="Inter"/>
              </a:rPr>
              <a:t>Shift-Left Testing:</a:t>
            </a:r>
            <a:r>
              <a:rPr b="0" i="0" lang="en-US" sz="1425" u="none" cap="none" strike="noStrike">
                <a:solidFill>
                  <a:srgbClr val="475569"/>
                </a:solidFill>
                <a:latin typeface="Inter"/>
                <a:ea typeface="Inter"/>
                <a:cs typeface="Inter"/>
                <a:sym typeface="Inter"/>
              </a:rPr>
              <a:t> Developer viết Unit Test &amp; API Test từ sớm để phát hiện lỗi ngay.</a:t>
            </a:r>
            <a:endParaRPr/>
          </a:p>
        </p:txBody>
      </p:sp>
      <p:sp>
        <p:nvSpPr>
          <p:cNvPr id="329" name="Google Shape;329;p23"/>
          <p:cNvSpPr txBox="1"/>
          <p:nvPr/>
        </p:nvSpPr>
        <p:spPr>
          <a:xfrm>
            <a:off x="571500" y="552450"/>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TRIỂN KHAI BƯỚC 1 </a:t>
            </a:r>
            <a:r>
              <a:rPr b="1" lang="en-US" sz="2850">
                <a:solidFill>
                  <a:srgbClr val="1E3A8A"/>
                </a:solidFill>
                <a:latin typeface="Playfair Display"/>
                <a:ea typeface="Playfair Display"/>
                <a:cs typeface="Playfair Display"/>
                <a:sym typeface="Playfair Display"/>
              </a:rPr>
              <a:t>+</a:t>
            </a:r>
            <a:r>
              <a:rPr b="1" i="0" lang="en-US" sz="2850" u="none" cap="none" strike="noStrike">
                <a:solidFill>
                  <a:srgbClr val="1E3A8A"/>
                </a:solidFill>
                <a:latin typeface="Playfair Display"/>
                <a:ea typeface="Playfair Display"/>
                <a:cs typeface="Playfair Display"/>
                <a:sym typeface="Playfair Display"/>
              </a:rPr>
              <a:t> BƯỚC 2</a:t>
            </a:r>
            <a:endParaRPr>
              <a:latin typeface="Playfair Display"/>
              <a:ea typeface="Playfair Display"/>
              <a:cs typeface="Playfair Display"/>
              <a:sym typeface="Playfair Display"/>
            </a:endParaRPr>
          </a:p>
        </p:txBody>
      </p:sp>
      <p:sp>
        <p:nvSpPr>
          <p:cNvPr id="330" name="Google Shape;330;p23"/>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3"/>
          <p:cNvSpPr txBox="1"/>
          <p:nvPr/>
        </p:nvSpPr>
        <p:spPr>
          <a:xfrm>
            <a:off x="440475" y="2373445"/>
            <a:ext cx="5500800" cy="307800"/>
          </a:xfrm>
          <a:prstGeom prst="rect">
            <a:avLst/>
          </a:prstGeom>
          <a:noFill/>
          <a:ln>
            <a:noFill/>
          </a:ln>
        </p:spPr>
        <p:txBody>
          <a:bodyPr anchorCtr="0" anchor="t" bIns="0" lIns="304800" spcFirstLastPara="1" rIns="0" wrap="square" tIns="0">
            <a:spAutoFit/>
          </a:bodyPr>
          <a:lstStyle/>
          <a:p>
            <a:pPr indent="0" lvl="0" marL="0" marR="0" rtl="0" algn="ctr">
              <a:lnSpc>
                <a:spcPct val="160000"/>
              </a:lnSpc>
              <a:spcBef>
                <a:spcPts val="0"/>
              </a:spcBef>
              <a:spcAft>
                <a:spcPts val="0"/>
              </a:spcAft>
              <a:buNone/>
            </a:pPr>
            <a:r>
              <a:rPr b="1" lang="en-US" sz="2000">
                <a:solidFill>
                  <a:srgbClr val="1E3A8A"/>
                </a:solidFill>
                <a:latin typeface="Inter"/>
                <a:ea typeface="Inter"/>
                <a:cs typeface="Inter"/>
                <a:sym typeface="Inter"/>
              </a:rPr>
              <a:t>BƯỚC 1: FOUNDATION</a:t>
            </a:r>
            <a:endParaRPr sz="2000"/>
          </a:p>
        </p:txBody>
      </p:sp>
      <p:sp>
        <p:nvSpPr>
          <p:cNvPr id="332" name="Google Shape;332;p23"/>
          <p:cNvSpPr txBox="1"/>
          <p:nvPr/>
        </p:nvSpPr>
        <p:spPr>
          <a:xfrm>
            <a:off x="6250725" y="2373445"/>
            <a:ext cx="5500800" cy="307800"/>
          </a:xfrm>
          <a:prstGeom prst="rect">
            <a:avLst/>
          </a:prstGeom>
          <a:noFill/>
          <a:ln>
            <a:noFill/>
          </a:ln>
        </p:spPr>
        <p:txBody>
          <a:bodyPr anchorCtr="0" anchor="t" bIns="0" lIns="304800" spcFirstLastPara="1" rIns="0" wrap="square" tIns="0">
            <a:spAutoFit/>
          </a:bodyPr>
          <a:lstStyle/>
          <a:p>
            <a:pPr indent="0" lvl="0" marL="0" marR="0" rtl="0" algn="ctr">
              <a:lnSpc>
                <a:spcPct val="160000"/>
              </a:lnSpc>
              <a:spcBef>
                <a:spcPts val="0"/>
              </a:spcBef>
              <a:spcAft>
                <a:spcPts val="0"/>
              </a:spcAft>
              <a:buNone/>
            </a:pPr>
            <a:r>
              <a:rPr b="1" lang="en-US" sz="2000">
                <a:solidFill>
                  <a:srgbClr val="1E3A8A"/>
                </a:solidFill>
                <a:latin typeface="Inter"/>
                <a:ea typeface="Inter"/>
                <a:cs typeface="Inter"/>
                <a:sym typeface="Inter"/>
              </a:rPr>
              <a:t>BƯỚC 2: </a:t>
            </a:r>
            <a:r>
              <a:rPr b="1" lang="en-US" sz="2000">
                <a:solidFill>
                  <a:srgbClr val="1E3A8A"/>
                </a:solidFill>
                <a:latin typeface="Inter"/>
                <a:ea typeface="Inter"/>
                <a:cs typeface="Inter"/>
                <a:sym typeface="Inter"/>
              </a:rPr>
              <a:t>LEAN OPTIMIZATION</a:t>
            </a:r>
            <a:endParaRPr b="1" sz="2000">
              <a:solidFill>
                <a:srgbClr val="1E3A8A"/>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pic>
        <p:nvPicPr>
          <p:cNvPr descr="image.png" id="337" name="Google Shape;337;p24"/>
          <p:cNvPicPr preferRelativeResize="0"/>
          <p:nvPr/>
        </p:nvPicPr>
        <p:blipFill rotWithShape="1">
          <a:blip r:embed="rId3">
            <a:alphaModFix/>
          </a:blip>
          <a:srcRect b="0" l="0" r="0" t="0"/>
          <a:stretch/>
        </p:blipFill>
        <p:spPr>
          <a:xfrm>
            <a:off x="0" y="-1729500"/>
            <a:ext cx="12192000" cy="6858000"/>
          </a:xfrm>
          <a:prstGeom prst="rect">
            <a:avLst/>
          </a:prstGeom>
          <a:noFill/>
          <a:ln>
            <a:noFill/>
          </a:ln>
        </p:spPr>
      </p:pic>
      <p:pic>
        <p:nvPicPr>
          <p:cNvPr descr="image.png" id="338" name="Google Shape;338;p24"/>
          <p:cNvPicPr preferRelativeResize="0"/>
          <p:nvPr/>
        </p:nvPicPr>
        <p:blipFill rotWithShape="1">
          <a:blip r:embed="rId4">
            <a:alphaModFix/>
          </a:blip>
          <a:srcRect b="0" l="0" r="0" t="0"/>
          <a:stretch/>
        </p:blipFill>
        <p:spPr>
          <a:xfrm>
            <a:off x="6381750" y="1581150"/>
            <a:ext cx="5238750" cy="4572000"/>
          </a:xfrm>
          <a:prstGeom prst="rect">
            <a:avLst/>
          </a:prstGeom>
          <a:noFill/>
          <a:ln>
            <a:noFill/>
          </a:ln>
        </p:spPr>
      </p:pic>
      <p:sp>
        <p:nvSpPr>
          <p:cNvPr id="339" name="Google Shape;339;p24"/>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24"/>
          <p:cNvSpPr txBox="1"/>
          <p:nvPr/>
        </p:nvSpPr>
        <p:spPr>
          <a:xfrm>
            <a:off x="571500" y="1422945"/>
            <a:ext cx="5500800" cy="254100"/>
          </a:xfrm>
          <a:prstGeom prst="rect">
            <a:avLst/>
          </a:prstGeom>
          <a:noFill/>
          <a:ln>
            <a:noFill/>
          </a:ln>
        </p:spPr>
        <p:txBody>
          <a:bodyPr anchorCtr="0" anchor="t" bIns="0" lIns="30480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1E3A8A"/>
                </a:solidFill>
                <a:latin typeface="Inter"/>
                <a:ea typeface="Inter"/>
                <a:cs typeface="Inter"/>
                <a:sym typeface="Inter"/>
              </a:rPr>
              <a:t>Bước 3: Metrics Dashboard</a:t>
            </a:r>
            <a:endParaRPr/>
          </a:p>
        </p:txBody>
      </p:sp>
      <p:sp>
        <p:nvSpPr>
          <p:cNvPr id="341" name="Google Shape;341;p24"/>
          <p:cNvSpPr txBox="1"/>
          <p:nvPr/>
        </p:nvSpPr>
        <p:spPr>
          <a:xfrm>
            <a:off x="571500" y="1872406"/>
            <a:ext cx="5238900" cy="921000"/>
          </a:xfrm>
          <a:prstGeom prst="rect">
            <a:avLst/>
          </a:prstGeom>
          <a:noFill/>
          <a:ln>
            <a:noFill/>
          </a:ln>
        </p:spPr>
        <p:txBody>
          <a:bodyPr anchorCtr="0" anchor="t" bIns="0" lIns="0" spcFirstLastPara="1" rIns="0" wrap="square" tIns="0">
            <a:spAutoFit/>
          </a:bodyPr>
          <a:lstStyle/>
          <a:p>
            <a:pPr indent="0" lvl="0" marL="0" marR="0" rtl="0" algn="just">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Theo dõi liên tục Test Coverage, Defect Density và Cycle Time theo từng Sprint. Trực quan hóa dữ liệu qua nền tảng Google Sheets hoặc Jira Dashboard.</a:t>
            </a:r>
            <a:endParaRPr/>
          </a:p>
        </p:txBody>
      </p:sp>
      <p:sp>
        <p:nvSpPr>
          <p:cNvPr id="342" name="Google Shape;342;p24"/>
          <p:cNvSpPr txBox="1"/>
          <p:nvPr/>
        </p:nvSpPr>
        <p:spPr>
          <a:xfrm>
            <a:off x="571500" y="3241489"/>
            <a:ext cx="5500800" cy="254100"/>
          </a:xfrm>
          <a:prstGeom prst="rect">
            <a:avLst/>
          </a:prstGeom>
          <a:noFill/>
          <a:ln>
            <a:noFill/>
          </a:ln>
        </p:spPr>
        <p:txBody>
          <a:bodyPr anchorCtr="0" anchor="t" bIns="0" lIns="36195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1E3A8A"/>
                </a:solidFill>
                <a:latin typeface="Inter"/>
                <a:ea typeface="Inter"/>
                <a:cs typeface="Inter"/>
                <a:sym typeface="Inter"/>
              </a:rPr>
              <a:t>Bước 4: Sprint Retrospective &amp; RCA</a:t>
            </a:r>
            <a:endParaRPr/>
          </a:p>
        </p:txBody>
      </p:sp>
      <p:sp>
        <p:nvSpPr>
          <p:cNvPr id="343" name="Google Shape;343;p24"/>
          <p:cNvSpPr txBox="1"/>
          <p:nvPr/>
        </p:nvSpPr>
        <p:spPr>
          <a:xfrm>
            <a:off x="571500" y="3690950"/>
            <a:ext cx="5238900" cy="921000"/>
          </a:xfrm>
          <a:prstGeom prst="rect">
            <a:avLst/>
          </a:prstGeom>
          <a:noFill/>
          <a:ln>
            <a:noFill/>
          </a:ln>
        </p:spPr>
        <p:txBody>
          <a:bodyPr anchorCtr="0" anchor="t" bIns="0" lIns="0" spcFirstLastPara="1" rIns="0" wrap="square" tIns="0">
            <a:spAutoFit/>
          </a:bodyPr>
          <a:lstStyle/>
          <a:p>
            <a:pPr indent="0" lvl="0" marL="0" marR="0" rtl="0" algn="just">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Tổ chức họp định kỳ 2 tuần/lần. Thực hiện Root Cause Analysis (RCA) để phân tích nguyên nhân gốc rễ lỗi production và điều chỉnh quy trình.</a:t>
            </a:r>
            <a:endParaRPr/>
          </a:p>
        </p:txBody>
      </p:sp>
      <p:sp>
        <p:nvSpPr>
          <p:cNvPr id="344" name="Google Shape;344;p24"/>
          <p:cNvSpPr txBox="1"/>
          <p:nvPr/>
        </p:nvSpPr>
        <p:spPr>
          <a:xfrm>
            <a:off x="571500" y="4897208"/>
            <a:ext cx="5500800" cy="254100"/>
          </a:xfrm>
          <a:prstGeom prst="rect">
            <a:avLst/>
          </a:prstGeom>
          <a:noFill/>
          <a:ln>
            <a:noFill/>
          </a:ln>
        </p:spPr>
        <p:txBody>
          <a:bodyPr anchorCtr="0" anchor="t" bIns="0" lIns="30480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1E3A8A"/>
                </a:solidFill>
                <a:latin typeface="Inter"/>
                <a:ea typeface="Inter"/>
                <a:cs typeface="Inter"/>
                <a:sym typeface="Inter"/>
              </a:rPr>
              <a:t>Khảo sát NPS</a:t>
            </a:r>
            <a:endParaRPr/>
          </a:p>
        </p:txBody>
      </p:sp>
      <p:sp>
        <p:nvSpPr>
          <p:cNvPr id="345" name="Google Shape;345;p24"/>
          <p:cNvSpPr txBox="1"/>
          <p:nvPr/>
        </p:nvSpPr>
        <p:spPr>
          <a:xfrm>
            <a:off x="571500" y="5346669"/>
            <a:ext cx="5238900" cy="921000"/>
          </a:xfrm>
          <a:prstGeom prst="rect">
            <a:avLst/>
          </a:prstGeom>
          <a:noFill/>
          <a:ln>
            <a:noFill/>
          </a:ln>
        </p:spPr>
        <p:txBody>
          <a:bodyPr anchorCtr="0" anchor="t" bIns="0" lIns="0" spcFirstLastPara="1" rIns="0" wrap="square" tIns="0">
            <a:spAutoFit/>
          </a:bodyPr>
          <a:lstStyle/>
          <a:p>
            <a:pPr indent="0" lvl="0" marL="0" marR="0" rtl="0" algn="just">
              <a:lnSpc>
                <a:spcPct val="159929"/>
              </a:lnSpc>
              <a:spcBef>
                <a:spcPts val="0"/>
              </a:spcBef>
              <a:spcAft>
                <a:spcPts val="0"/>
              </a:spcAft>
              <a:buNone/>
            </a:pPr>
            <a:r>
              <a:rPr b="0" i="0" lang="en-US" sz="1425" u="none" cap="none" strike="noStrike">
                <a:solidFill>
                  <a:srgbClr val="475569"/>
                </a:solidFill>
                <a:latin typeface="Inter"/>
                <a:ea typeface="Inter"/>
                <a:cs typeface="Inter"/>
                <a:sym typeface="Inter"/>
              </a:rPr>
              <a:t>Thu thập phản hồi từ người dùng cuối, đo lường mức độ hài lòng để tích hợp góc nhìn khách hàng vào vòng cải tiến liên tục.</a:t>
            </a:r>
            <a:endParaRPr/>
          </a:p>
        </p:txBody>
      </p:sp>
      <p:pic>
        <p:nvPicPr>
          <p:cNvPr descr="image.png" id="346" name="Google Shape;346;p24"/>
          <p:cNvPicPr preferRelativeResize="0"/>
          <p:nvPr/>
        </p:nvPicPr>
        <p:blipFill rotWithShape="1">
          <a:blip r:embed="rId5">
            <a:alphaModFix/>
          </a:blip>
          <a:srcRect b="0" l="0" r="0" t="0"/>
          <a:stretch/>
        </p:blipFill>
        <p:spPr>
          <a:xfrm>
            <a:off x="571500" y="1480095"/>
            <a:ext cx="209550" cy="209550"/>
          </a:xfrm>
          <a:prstGeom prst="rect">
            <a:avLst/>
          </a:prstGeom>
          <a:noFill/>
          <a:ln>
            <a:noFill/>
          </a:ln>
        </p:spPr>
      </p:pic>
      <p:pic>
        <p:nvPicPr>
          <p:cNvPr descr="image.png" id="347" name="Google Shape;347;p24"/>
          <p:cNvPicPr preferRelativeResize="0"/>
          <p:nvPr/>
        </p:nvPicPr>
        <p:blipFill rotWithShape="1">
          <a:blip r:embed="rId6">
            <a:alphaModFix/>
          </a:blip>
          <a:srcRect b="0" l="0" r="0" t="0"/>
          <a:stretch/>
        </p:blipFill>
        <p:spPr>
          <a:xfrm>
            <a:off x="571500" y="3298639"/>
            <a:ext cx="266700" cy="209550"/>
          </a:xfrm>
          <a:prstGeom prst="rect">
            <a:avLst/>
          </a:prstGeom>
          <a:noFill/>
          <a:ln>
            <a:noFill/>
          </a:ln>
        </p:spPr>
      </p:pic>
      <p:pic>
        <p:nvPicPr>
          <p:cNvPr descr="image.png" id="348" name="Google Shape;348;p24"/>
          <p:cNvPicPr preferRelativeResize="0"/>
          <p:nvPr/>
        </p:nvPicPr>
        <p:blipFill rotWithShape="1">
          <a:blip r:embed="rId7">
            <a:alphaModFix/>
          </a:blip>
          <a:srcRect b="0" l="0" r="0" t="0"/>
          <a:stretch/>
        </p:blipFill>
        <p:spPr>
          <a:xfrm>
            <a:off x="571500" y="4954358"/>
            <a:ext cx="209550" cy="209550"/>
          </a:xfrm>
          <a:prstGeom prst="rect">
            <a:avLst/>
          </a:prstGeom>
          <a:noFill/>
          <a:ln>
            <a:noFill/>
          </a:ln>
        </p:spPr>
      </p:pic>
      <p:sp>
        <p:nvSpPr>
          <p:cNvPr id="349" name="Google Shape;349;p24"/>
          <p:cNvSpPr txBox="1"/>
          <p:nvPr/>
        </p:nvSpPr>
        <p:spPr>
          <a:xfrm>
            <a:off x="571500" y="552450"/>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BƯỚC 3 </a:t>
            </a:r>
            <a:r>
              <a:rPr b="1" lang="en-US" sz="2850">
                <a:solidFill>
                  <a:srgbClr val="1E3A8A"/>
                </a:solidFill>
                <a:latin typeface="Playfair Display"/>
                <a:ea typeface="Playfair Display"/>
                <a:cs typeface="Playfair Display"/>
                <a:sym typeface="Playfair Display"/>
              </a:rPr>
              <a:t>+</a:t>
            </a:r>
            <a:r>
              <a:rPr b="1" i="0" lang="en-US" sz="2850" u="none" cap="none" strike="noStrike">
                <a:solidFill>
                  <a:srgbClr val="1E3A8A"/>
                </a:solidFill>
                <a:latin typeface="Playfair Display"/>
                <a:ea typeface="Playfair Display"/>
                <a:cs typeface="Playfair Display"/>
                <a:sym typeface="Playfair Display"/>
              </a:rPr>
              <a:t> 4: ĐO LƯỜNG </a:t>
            </a:r>
            <a:r>
              <a:rPr b="1" lang="en-US" sz="2850">
                <a:solidFill>
                  <a:srgbClr val="1E3A8A"/>
                </a:solidFill>
                <a:latin typeface="Playfair Display"/>
                <a:ea typeface="Playfair Display"/>
                <a:cs typeface="Playfair Display"/>
                <a:sym typeface="Playfair Display"/>
              </a:rPr>
              <a:t>+</a:t>
            </a:r>
            <a:r>
              <a:rPr b="1" i="0" lang="en-US" sz="2850" u="none" cap="none" strike="noStrike">
                <a:solidFill>
                  <a:srgbClr val="1E3A8A"/>
                </a:solidFill>
                <a:latin typeface="Playfair Display"/>
                <a:ea typeface="Playfair Display"/>
                <a:cs typeface="Playfair Display"/>
                <a:sym typeface="Playfair Display"/>
              </a:rPr>
              <a:t> PHẢN HỒI</a:t>
            </a:r>
            <a:endParaRPr>
              <a:latin typeface="Playfair Display"/>
              <a:ea typeface="Playfair Display"/>
              <a:cs typeface="Playfair Display"/>
              <a:sym typeface="Playfair Display"/>
            </a:endParaRPr>
          </a:p>
        </p:txBody>
      </p:sp>
      <p:sp>
        <p:nvSpPr>
          <p:cNvPr id="350" name="Google Shape;350;p24"/>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51" name="Google Shape;351;p24"/>
          <p:cNvPicPr preferRelativeResize="0"/>
          <p:nvPr/>
        </p:nvPicPr>
        <p:blipFill>
          <a:blip r:embed="rId8">
            <a:alphaModFix/>
          </a:blip>
          <a:stretch>
            <a:fillRect/>
          </a:stretch>
        </p:blipFill>
        <p:spPr>
          <a:xfrm>
            <a:off x="6706521" y="1569963"/>
            <a:ext cx="4913975" cy="43181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pic>
        <p:nvPicPr>
          <p:cNvPr descr="image.png" id="356" name="Google Shape;356;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57" name="Google Shape;357;p25"/>
          <p:cNvPicPr preferRelativeResize="0"/>
          <p:nvPr/>
        </p:nvPicPr>
        <p:blipFill rotWithShape="1">
          <a:blip r:embed="rId4">
            <a:alphaModFix/>
          </a:blip>
          <a:srcRect b="0" l="0" r="0" t="0"/>
          <a:stretch/>
        </p:blipFill>
        <p:spPr>
          <a:xfrm>
            <a:off x="571500" y="6257925"/>
            <a:ext cx="11049000" cy="314325"/>
          </a:xfrm>
          <a:prstGeom prst="rect">
            <a:avLst/>
          </a:prstGeom>
          <a:noFill/>
          <a:ln>
            <a:noFill/>
          </a:ln>
        </p:spPr>
      </p:pic>
      <p:sp>
        <p:nvSpPr>
          <p:cNvPr id="358" name="Google Shape;358;p25"/>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25"/>
          <p:cNvSpPr txBox="1"/>
          <p:nvPr/>
        </p:nvSpPr>
        <p:spPr>
          <a:xfrm>
            <a:off x="571500" y="6410325"/>
            <a:ext cx="30312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Thực hành – Lộ trình trưởng thành</a:t>
            </a:r>
            <a:endParaRPr/>
          </a:p>
        </p:txBody>
      </p:sp>
      <p:sp>
        <p:nvSpPr>
          <p:cNvPr id="360" name="Google Shape;360;p25"/>
          <p:cNvSpPr/>
          <p:nvPr/>
        </p:nvSpPr>
        <p:spPr>
          <a:xfrm>
            <a:off x="571500" y="3952875"/>
            <a:ext cx="11049000" cy="57150"/>
          </a:xfrm>
          <a:prstGeom prst="roundRect">
            <a:avLst>
              <a:gd fmla="val 50000" name="adj"/>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25"/>
          <p:cNvSpPr txBox="1"/>
          <p:nvPr/>
        </p:nvSpPr>
        <p:spPr>
          <a:xfrm>
            <a:off x="507968" y="4600575"/>
            <a:ext cx="2668302"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2563EB"/>
                </a:solidFill>
                <a:latin typeface="Inter"/>
                <a:ea typeface="Inter"/>
                <a:cs typeface="Inter"/>
                <a:sym typeface="Inter"/>
              </a:rPr>
              <a:t>Giai đoạn 1</a:t>
            </a:r>
            <a:endParaRPr/>
          </a:p>
        </p:txBody>
      </p:sp>
      <p:sp>
        <p:nvSpPr>
          <p:cNvPr id="362" name="Google Shape;362;p25"/>
          <p:cNvSpPr txBox="1"/>
          <p:nvPr/>
        </p:nvSpPr>
        <p:spPr>
          <a:xfrm>
            <a:off x="571500" y="4924425"/>
            <a:ext cx="254124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F59E0B"/>
                </a:solidFill>
                <a:latin typeface="Inter"/>
                <a:ea typeface="Inter"/>
                <a:cs typeface="Inter"/>
                <a:sym typeface="Inter"/>
              </a:rPr>
              <a:t>Initial → Managed</a:t>
            </a:r>
            <a:endParaRPr/>
          </a:p>
        </p:txBody>
      </p:sp>
      <p:sp>
        <p:nvSpPr>
          <p:cNvPr id="363" name="Google Shape;363;p25"/>
          <p:cNvSpPr txBox="1"/>
          <p:nvPr/>
        </p:nvSpPr>
        <p:spPr>
          <a:xfrm>
            <a:off x="571500" y="5263455"/>
            <a:ext cx="2541240" cy="213270"/>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94A3B8"/>
                </a:solidFill>
                <a:latin typeface="Inter"/>
                <a:ea typeface="Inter"/>
                <a:cs typeface="Inter"/>
                <a:sym typeface="Inter"/>
              </a:rPr>
              <a:t>Tháng 1 – 2</a:t>
            </a:r>
            <a:endParaRPr/>
          </a:p>
        </p:txBody>
      </p:sp>
      <p:sp>
        <p:nvSpPr>
          <p:cNvPr id="364" name="Google Shape;364;p25"/>
          <p:cNvSpPr txBox="1"/>
          <p:nvPr/>
        </p:nvSpPr>
        <p:spPr>
          <a:xfrm>
            <a:off x="714375" y="5571976"/>
            <a:ext cx="225549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25" u="none" cap="none" strike="noStrike">
                <a:solidFill>
                  <a:srgbClr val="475569"/>
                </a:solidFill>
                <a:latin typeface="Inter"/>
                <a:ea typeface="Inter"/>
                <a:cs typeface="Inter"/>
                <a:sym typeface="Inter"/>
              </a:rPr>
              <a:t>• Coverage &gt;60%</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475569"/>
                </a:solidFill>
                <a:latin typeface="Inter"/>
                <a:ea typeface="Inter"/>
                <a:cs typeface="Inter"/>
                <a:sym typeface="Inter"/>
              </a:rPr>
              <a:t> • Giảm Lead Time 30%</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475569"/>
                </a:solidFill>
                <a:latin typeface="Inter"/>
                <a:ea typeface="Inter"/>
                <a:cs typeface="Inter"/>
                <a:sym typeface="Inter"/>
              </a:rPr>
              <a:t> • Thiết lập Test Plan &amp; RACI</a:t>
            </a:r>
            <a:endParaRPr/>
          </a:p>
        </p:txBody>
      </p:sp>
      <p:sp>
        <p:nvSpPr>
          <p:cNvPr id="365" name="Google Shape;365;p25"/>
          <p:cNvSpPr txBox="1"/>
          <p:nvPr/>
        </p:nvSpPr>
        <p:spPr>
          <a:xfrm>
            <a:off x="3343888" y="2276623"/>
            <a:ext cx="2668302"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2563EB"/>
                </a:solidFill>
                <a:latin typeface="Inter"/>
                <a:ea typeface="Inter"/>
                <a:cs typeface="Inter"/>
                <a:sym typeface="Inter"/>
              </a:rPr>
              <a:t>Giai đoạn 2</a:t>
            </a:r>
            <a:endParaRPr/>
          </a:p>
        </p:txBody>
      </p:sp>
      <p:sp>
        <p:nvSpPr>
          <p:cNvPr id="366" name="Google Shape;366;p25"/>
          <p:cNvSpPr txBox="1"/>
          <p:nvPr/>
        </p:nvSpPr>
        <p:spPr>
          <a:xfrm>
            <a:off x="3407419" y="2600473"/>
            <a:ext cx="254124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F59E0B"/>
                </a:solidFill>
                <a:latin typeface="Inter"/>
                <a:ea typeface="Inter"/>
                <a:cs typeface="Inter"/>
                <a:sym typeface="Inter"/>
              </a:rPr>
              <a:t>Managed → Defined</a:t>
            </a:r>
            <a:endParaRPr/>
          </a:p>
        </p:txBody>
      </p:sp>
      <p:sp>
        <p:nvSpPr>
          <p:cNvPr id="367" name="Google Shape;367;p25"/>
          <p:cNvSpPr txBox="1"/>
          <p:nvPr/>
        </p:nvSpPr>
        <p:spPr>
          <a:xfrm>
            <a:off x="3407419" y="2939504"/>
            <a:ext cx="2541240" cy="213270"/>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94A3B8"/>
                </a:solidFill>
                <a:latin typeface="Inter"/>
                <a:ea typeface="Inter"/>
                <a:cs typeface="Inter"/>
                <a:sym typeface="Inter"/>
              </a:rPr>
              <a:t>Tháng 2 – 4</a:t>
            </a:r>
            <a:endParaRPr/>
          </a:p>
        </p:txBody>
      </p:sp>
      <p:sp>
        <p:nvSpPr>
          <p:cNvPr id="368" name="Google Shape;368;p25"/>
          <p:cNvSpPr txBox="1"/>
          <p:nvPr/>
        </p:nvSpPr>
        <p:spPr>
          <a:xfrm>
            <a:off x="3550294" y="3248025"/>
            <a:ext cx="225549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25" u="none" cap="none" strike="noStrike">
                <a:solidFill>
                  <a:srgbClr val="475569"/>
                </a:solidFill>
                <a:latin typeface="Inter"/>
                <a:ea typeface="Inter"/>
                <a:cs typeface="Inter"/>
                <a:sym typeface="Inter"/>
              </a:rPr>
              <a:t>• Chuẩn hóa quy trình</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475569"/>
                </a:solidFill>
                <a:latin typeface="Inter"/>
                <a:ea typeface="Inter"/>
                <a:cs typeface="Inter"/>
                <a:sym typeface="Inter"/>
              </a:rPr>
              <a:t> • Tự động hóa đạt 40%</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475569"/>
                </a:solidFill>
                <a:latin typeface="Inter"/>
                <a:ea typeface="Inter"/>
                <a:cs typeface="Inter"/>
                <a:sym typeface="Inter"/>
              </a:rPr>
              <a:t> • Giảm mật độ lỗi 50%</a:t>
            </a:r>
            <a:endParaRPr/>
          </a:p>
        </p:txBody>
      </p:sp>
      <p:sp>
        <p:nvSpPr>
          <p:cNvPr id="369" name="Google Shape;369;p25"/>
          <p:cNvSpPr txBox="1"/>
          <p:nvPr/>
        </p:nvSpPr>
        <p:spPr>
          <a:xfrm>
            <a:off x="6179808" y="4600575"/>
            <a:ext cx="2668302"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2563EB"/>
                </a:solidFill>
                <a:latin typeface="Inter"/>
                <a:ea typeface="Inter"/>
                <a:cs typeface="Inter"/>
                <a:sym typeface="Inter"/>
              </a:rPr>
              <a:t>Giai đoạn 3</a:t>
            </a:r>
            <a:endParaRPr/>
          </a:p>
        </p:txBody>
      </p:sp>
      <p:sp>
        <p:nvSpPr>
          <p:cNvPr id="370" name="Google Shape;370;p25"/>
          <p:cNvSpPr txBox="1"/>
          <p:nvPr/>
        </p:nvSpPr>
        <p:spPr>
          <a:xfrm>
            <a:off x="6243339" y="4924425"/>
            <a:ext cx="254124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F59E0B"/>
                </a:solidFill>
                <a:latin typeface="Inter"/>
                <a:ea typeface="Inter"/>
                <a:cs typeface="Inter"/>
                <a:sym typeface="Inter"/>
              </a:rPr>
              <a:t>Defined → Quantitatively</a:t>
            </a:r>
            <a:endParaRPr/>
          </a:p>
        </p:txBody>
      </p:sp>
      <p:sp>
        <p:nvSpPr>
          <p:cNvPr id="371" name="Google Shape;371;p25"/>
          <p:cNvSpPr txBox="1"/>
          <p:nvPr/>
        </p:nvSpPr>
        <p:spPr>
          <a:xfrm>
            <a:off x="6243339" y="5263455"/>
            <a:ext cx="2541240" cy="213270"/>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94A3B8"/>
                </a:solidFill>
                <a:latin typeface="Inter"/>
                <a:ea typeface="Inter"/>
                <a:cs typeface="Inter"/>
                <a:sym typeface="Inter"/>
              </a:rPr>
              <a:t>Tháng 4 – 6</a:t>
            </a:r>
            <a:endParaRPr/>
          </a:p>
        </p:txBody>
      </p:sp>
      <p:sp>
        <p:nvSpPr>
          <p:cNvPr id="372" name="Google Shape;372;p25"/>
          <p:cNvSpPr txBox="1"/>
          <p:nvPr/>
        </p:nvSpPr>
        <p:spPr>
          <a:xfrm>
            <a:off x="6386214" y="5571976"/>
            <a:ext cx="225549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25" u="none" cap="none" strike="noStrike">
                <a:solidFill>
                  <a:srgbClr val="475569"/>
                </a:solidFill>
                <a:latin typeface="Inter"/>
                <a:ea typeface="Inter"/>
                <a:cs typeface="Inter"/>
                <a:sym typeface="Inter"/>
              </a:rPr>
              <a:t>• Cycle Time &lt; 5 ngày</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475569"/>
                </a:solidFill>
                <a:latin typeface="Inter"/>
                <a:ea typeface="Inter"/>
                <a:cs typeface="Inter"/>
                <a:sym typeface="Inter"/>
              </a:rPr>
              <a:t> • Metrics Dashboard đủ</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475569"/>
                </a:solidFill>
                <a:latin typeface="Inter"/>
                <a:ea typeface="Inter"/>
                <a:cs typeface="Inter"/>
                <a:sym typeface="Inter"/>
              </a:rPr>
              <a:t> • RCA &amp; Retro định kỳ</a:t>
            </a:r>
            <a:endParaRPr/>
          </a:p>
        </p:txBody>
      </p:sp>
      <p:sp>
        <p:nvSpPr>
          <p:cNvPr id="373" name="Google Shape;373;p25"/>
          <p:cNvSpPr txBox="1"/>
          <p:nvPr/>
        </p:nvSpPr>
        <p:spPr>
          <a:xfrm>
            <a:off x="9015728" y="2276623"/>
            <a:ext cx="2668302"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2563EB"/>
                </a:solidFill>
                <a:latin typeface="Inter"/>
                <a:ea typeface="Inter"/>
                <a:cs typeface="Inter"/>
                <a:sym typeface="Inter"/>
              </a:rPr>
              <a:t>Giai đoạn 4</a:t>
            </a:r>
            <a:endParaRPr/>
          </a:p>
        </p:txBody>
      </p:sp>
      <p:sp>
        <p:nvSpPr>
          <p:cNvPr id="374" name="Google Shape;374;p25"/>
          <p:cNvSpPr txBox="1"/>
          <p:nvPr/>
        </p:nvSpPr>
        <p:spPr>
          <a:xfrm>
            <a:off x="9079259" y="2600473"/>
            <a:ext cx="254124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F59E0B"/>
                </a:solidFill>
                <a:latin typeface="Inter"/>
                <a:ea typeface="Inter"/>
                <a:cs typeface="Inter"/>
                <a:sym typeface="Inter"/>
              </a:rPr>
              <a:t>Optimizing</a:t>
            </a:r>
            <a:endParaRPr/>
          </a:p>
        </p:txBody>
      </p:sp>
      <p:sp>
        <p:nvSpPr>
          <p:cNvPr id="375" name="Google Shape;375;p25"/>
          <p:cNvSpPr txBox="1"/>
          <p:nvPr/>
        </p:nvSpPr>
        <p:spPr>
          <a:xfrm>
            <a:off x="9079259" y="2939504"/>
            <a:ext cx="2541240" cy="213270"/>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94A3B8"/>
                </a:solidFill>
                <a:latin typeface="Inter"/>
                <a:ea typeface="Inter"/>
                <a:cs typeface="Inter"/>
                <a:sym typeface="Inter"/>
              </a:rPr>
              <a:t>Liên tục</a:t>
            </a:r>
            <a:endParaRPr/>
          </a:p>
        </p:txBody>
      </p:sp>
      <p:sp>
        <p:nvSpPr>
          <p:cNvPr id="376" name="Google Shape;376;p25"/>
          <p:cNvSpPr txBox="1"/>
          <p:nvPr/>
        </p:nvSpPr>
        <p:spPr>
          <a:xfrm>
            <a:off x="9222134" y="3248025"/>
            <a:ext cx="225549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25" u="none" cap="none" strike="noStrike">
                <a:solidFill>
                  <a:srgbClr val="475569"/>
                </a:solidFill>
                <a:latin typeface="Inter"/>
                <a:ea typeface="Inter"/>
                <a:cs typeface="Inter"/>
                <a:sym typeface="Inter"/>
              </a:rPr>
              <a:t>• Defect Leakage &lt; 5%</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475569"/>
                </a:solidFill>
                <a:latin typeface="Inter"/>
                <a:ea typeface="Inter"/>
                <a:cs typeface="Inter"/>
                <a:sym typeface="Inter"/>
              </a:rPr>
              <a:t> • Cải tiến Kaizen</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475569"/>
                </a:solidFill>
                <a:latin typeface="Inter"/>
                <a:ea typeface="Inter"/>
                <a:cs typeface="Inter"/>
                <a:sym typeface="Inter"/>
              </a:rPr>
              <a:t> • Tích hợp AI &amp; DevOps</a:t>
            </a:r>
            <a:endParaRPr/>
          </a:p>
        </p:txBody>
      </p:sp>
      <p:sp>
        <p:nvSpPr>
          <p:cNvPr id="377" name="Google Shape;377;p25"/>
          <p:cNvSpPr/>
          <p:nvPr/>
        </p:nvSpPr>
        <p:spPr>
          <a:xfrm>
            <a:off x="1727820" y="4152900"/>
            <a:ext cx="228600" cy="228600"/>
          </a:xfrm>
          <a:prstGeom prst="roundRect">
            <a:avLst>
              <a:gd fmla="val 50000" name="adj"/>
            </a:avLst>
          </a:prstGeom>
          <a:solidFill>
            <a:srgbClr val="FFFFFF"/>
          </a:solidFill>
          <a:ln cap="flat" cmpd="sng" w="57150">
            <a:solidFill>
              <a:srgbClr val="F59E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25"/>
          <p:cNvSpPr/>
          <p:nvPr/>
        </p:nvSpPr>
        <p:spPr>
          <a:xfrm>
            <a:off x="4563740" y="4152900"/>
            <a:ext cx="228600" cy="228600"/>
          </a:xfrm>
          <a:prstGeom prst="roundRect">
            <a:avLst>
              <a:gd fmla="val 50000" name="adj"/>
            </a:avLst>
          </a:prstGeom>
          <a:solidFill>
            <a:srgbClr val="FFFFFF"/>
          </a:solidFill>
          <a:ln cap="flat" cmpd="sng" w="57150">
            <a:solidFill>
              <a:srgbClr val="F59E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5"/>
          <p:cNvSpPr/>
          <p:nvPr/>
        </p:nvSpPr>
        <p:spPr>
          <a:xfrm>
            <a:off x="7399659" y="4152900"/>
            <a:ext cx="228600" cy="228600"/>
          </a:xfrm>
          <a:prstGeom prst="roundRect">
            <a:avLst>
              <a:gd fmla="val 50000" name="adj"/>
            </a:avLst>
          </a:prstGeom>
          <a:solidFill>
            <a:srgbClr val="FFFFFF"/>
          </a:solidFill>
          <a:ln cap="flat" cmpd="sng" w="57150">
            <a:solidFill>
              <a:srgbClr val="F59E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25"/>
          <p:cNvSpPr/>
          <p:nvPr/>
        </p:nvSpPr>
        <p:spPr>
          <a:xfrm>
            <a:off x="10235579" y="4152900"/>
            <a:ext cx="228600" cy="228600"/>
          </a:xfrm>
          <a:prstGeom prst="roundRect">
            <a:avLst>
              <a:gd fmla="val 50000" name="adj"/>
            </a:avLst>
          </a:prstGeom>
          <a:solidFill>
            <a:srgbClr val="FFFFFF"/>
          </a:solidFill>
          <a:ln cap="flat" cmpd="sng" w="57150">
            <a:solidFill>
              <a:srgbClr val="F59E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25"/>
          <p:cNvSpPr txBox="1"/>
          <p:nvPr/>
        </p:nvSpPr>
        <p:spPr>
          <a:xfrm>
            <a:off x="571500" y="552450"/>
            <a:ext cx="1160145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ROADMAP GIAI ĐOẠN</a:t>
            </a:r>
            <a:endParaRPr/>
          </a:p>
        </p:txBody>
      </p:sp>
      <p:sp>
        <p:nvSpPr>
          <p:cNvPr id="382" name="Google Shape;382;p25"/>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6" name="Shape 386"/>
        <p:cNvGrpSpPr/>
        <p:nvPr/>
      </p:nvGrpSpPr>
      <p:grpSpPr>
        <a:xfrm>
          <a:off x="0" y="0"/>
          <a:ext cx="0" cy="0"/>
          <a:chOff x="0" y="0"/>
          <a:chExt cx="0" cy="0"/>
        </a:xfrm>
      </p:grpSpPr>
      <p:pic>
        <p:nvPicPr>
          <p:cNvPr descr="image.png" id="387" name="Google Shape;387;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88" name="Google Shape;388;p26"/>
          <p:cNvPicPr preferRelativeResize="0"/>
          <p:nvPr/>
        </p:nvPicPr>
        <p:blipFill rotWithShape="1">
          <a:blip r:embed="rId4">
            <a:alphaModFix/>
          </a:blip>
          <a:srcRect b="0" l="0" r="0" t="0"/>
          <a:stretch/>
        </p:blipFill>
        <p:spPr>
          <a:xfrm>
            <a:off x="571500" y="2391072"/>
            <a:ext cx="3492549" cy="3180754"/>
          </a:xfrm>
          <a:prstGeom prst="rect">
            <a:avLst/>
          </a:prstGeom>
          <a:noFill/>
          <a:ln>
            <a:noFill/>
          </a:ln>
        </p:spPr>
      </p:pic>
      <p:pic>
        <p:nvPicPr>
          <p:cNvPr descr="image.png" id="389" name="Google Shape;389;p26"/>
          <p:cNvPicPr preferRelativeResize="0"/>
          <p:nvPr/>
        </p:nvPicPr>
        <p:blipFill rotWithShape="1">
          <a:blip r:embed="rId5">
            <a:alphaModFix/>
          </a:blip>
          <a:srcRect b="0" l="0" r="0" t="0"/>
          <a:stretch/>
        </p:blipFill>
        <p:spPr>
          <a:xfrm>
            <a:off x="4349799" y="2391072"/>
            <a:ext cx="3492549" cy="3180754"/>
          </a:xfrm>
          <a:prstGeom prst="rect">
            <a:avLst/>
          </a:prstGeom>
          <a:noFill/>
          <a:ln>
            <a:noFill/>
          </a:ln>
        </p:spPr>
      </p:pic>
      <p:pic>
        <p:nvPicPr>
          <p:cNvPr descr="image.png" id="390" name="Google Shape;390;p26"/>
          <p:cNvPicPr preferRelativeResize="0"/>
          <p:nvPr/>
        </p:nvPicPr>
        <p:blipFill rotWithShape="1">
          <a:blip r:embed="rId6">
            <a:alphaModFix/>
          </a:blip>
          <a:srcRect b="0" l="0" r="0" t="0"/>
          <a:stretch/>
        </p:blipFill>
        <p:spPr>
          <a:xfrm>
            <a:off x="8128099" y="2391072"/>
            <a:ext cx="3492549" cy="3180754"/>
          </a:xfrm>
          <a:prstGeom prst="rect">
            <a:avLst/>
          </a:prstGeom>
          <a:noFill/>
          <a:ln>
            <a:noFill/>
          </a:ln>
        </p:spPr>
      </p:pic>
      <p:pic>
        <p:nvPicPr>
          <p:cNvPr descr="image.png" id="391" name="Google Shape;391;p26"/>
          <p:cNvPicPr preferRelativeResize="0"/>
          <p:nvPr/>
        </p:nvPicPr>
        <p:blipFill rotWithShape="1">
          <a:blip r:embed="rId7">
            <a:alphaModFix/>
          </a:blip>
          <a:srcRect b="0" l="0" r="0" t="0"/>
          <a:stretch/>
        </p:blipFill>
        <p:spPr>
          <a:xfrm>
            <a:off x="571500" y="6257925"/>
            <a:ext cx="11049000" cy="314325"/>
          </a:xfrm>
          <a:prstGeom prst="rect">
            <a:avLst/>
          </a:prstGeom>
          <a:noFill/>
          <a:ln>
            <a:noFill/>
          </a:ln>
        </p:spPr>
      </p:pic>
      <p:sp>
        <p:nvSpPr>
          <p:cNvPr id="392" name="Google Shape;392;p26"/>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26"/>
          <p:cNvSpPr txBox="1"/>
          <p:nvPr/>
        </p:nvSpPr>
        <p:spPr>
          <a:xfrm>
            <a:off x="571500" y="6410325"/>
            <a:ext cx="32916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Đảm bảo chất lượng &amp; Kiểm thử phần mềm</a:t>
            </a:r>
            <a:endParaRPr/>
          </a:p>
        </p:txBody>
      </p:sp>
      <p:pic>
        <p:nvPicPr>
          <p:cNvPr descr="image.png" id="394" name="Google Shape;394;p26"/>
          <p:cNvPicPr preferRelativeResize="0"/>
          <p:nvPr/>
        </p:nvPicPr>
        <p:blipFill rotWithShape="1">
          <a:blip r:embed="rId8">
            <a:alphaModFix/>
          </a:blip>
          <a:srcRect b="0" l="0" r="0" t="0"/>
          <a:stretch/>
        </p:blipFill>
        <p:spPr>
          <a:xfrm>
            <a:off x="819150" y="2733972"/>
            <a:ext cx="666750" cy="666750"/>
          </a:xfrm>
          <a:prstGeom prst="rect">
            <a:avLst/>
          </a:prstGeom>
          <a:noFill/>
          <a:ln>
            <a:noFill/>
          </a:ln>
        </p:spPr>
      </p:pic>
      <p:sp>
        <p:nvSpPr>
          <p:cNvPr id="395" name="Google Shape;395;p26"/>
          <p:cNvSpPr txBox="1"/>
          <p:nvPr/>
        </p:nvSpPr>
        <p:spPr>
          <a:xfrm>
            <a:off x="819150" y="3591222"/>
            <a:ext cx="2220277"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1E3A8A"/>
                </a:solidFill>
                <a:latin typeface="Inter"/>
                <a:ea typeface="Inter"/>
                <a:cs typeface="Inter"/>
                <a:sym typeface="Inter"/>
              </a:rPr>
              <a:t>Thiết kế Decision Table</a:t>
            </a:r>
            <a:endParaRPr/>
          </a:p>
        </p:txBody>
      </p:sp>
      <p:sp>
        <p:nvSpPr>
          <p:cNvPr id="396" name="Google Shape;396;p26"/>
          <p:cNvSpPr txBox="1"/>
          <p:nvPr/>
        </p:nvSpPr>
        <p:spPr>
          <a:xfrm>
            <a:off x="819150" y="3934122"/>
            <a:ext cx="2997249" cy="1294804"/>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475569"/>
                </a:solidFill>
                <a:latin typeface="Inter"/>
                <a:ea typeface="Inter"/>
                <a:cs typeface="Inter"/>
                <a:sym typeface="Inter"/>
              </a:rPr>
              <a:t>Áp dụng cho kịch bản thanh toán: xác định điều kiện đầu vào (phương thức, số dư, xác thực) và kết quả mong đợi, đảm bảo coverage các trường hợp biên.</a:t>
            </a:r>
            <a:endParaRPr/>
          </a:p>
        </p:txBody>
      </p:sp>
      <p:pic>
        <p:nvPicPr>
          <p:cNvPr descr="image.png" id="397" name="Google Shape;397;p26"/>
          <p:cNvPicPr preferRelativeResize="0"/>
          <p:nvPr/>
        </p:nvPicPr>
        <p:blipFill rotWithShape="1">
          <a:blip r:embed="rId9">
            <a:alphaModFix/>
          </a:blip>
          <a:srcRect b="0" l="0" r="0" t="0"/>
          <a:stretch/>
        </p:blipFill>
        <p:spPr>
          <a:xfrm>
            <a:off x="4597449" y="2733972"/>
            <a:ext cx="666750" cy="666750"/>
          </a:xfrm>
          <a:prstGeom prst="rect">
            <a:avLst/>
          </a:prstGeom>
          <a:noFill/>
          <a:ln>
            <a:noFill/>
          </a:ln>
        </p:spPr>
      </p:pic>
      <p:sp>
        <p:nvSpPr>
          <p:cNvPr id="398" name="Google Shape;398;p26"/>
          <p:cNvSpPr txBox="1"/>
          <p:nvPr/>
        </p:nvSpPr>
        <p:spPr>
          <a:xfrm>
            <a:off x="4597449" y="3591222"/>
            <a:ext cx="168021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1E3A8A"/>
                </a:solidFill>
                <a:latin typeface="Inter"/>
                <a:ea typeface="Inter"/>
                <a:cs typeface="Inter"/>
                <a:sym typeface="Inter"/>
              </a:rPr>
              <a:t>API Test Tự Động</a:t>
            </a:r>
            <a:endParaRPr/>
          </a:p>
        </p:txBody>
      </p:sp>
      <p:sp>
        <p:nvSpPr>
          <p:cNvPr id="399" name="Google Shape;399;p26"/>
          <p:cNvSpPr txBox="1"/>
          <p:nvPr/>
        </p:nvSpPr>
        <p:spPr>
          <a:xfrm>
            <a:off x="4597449" y="3934122"/>
            <a:ext cx="2997249" cy="1035843"/>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475569"/>
                </a:solidFill>
                <a:latin typeface="Inter"/>
                <a:ea typeface="Inter"/>
                <a:cs typeface="Inter"/>
                <a:sym typeface="Inter"/>
              </a:rPr>
              <a:t>Viết kịch bản bằng Postman/Newman kiểm thử các endpoint (POST /checkout, GET /order-status), tích hợp pipeline CI/CD GitHub Actions.</a:t>
            </a:r>
            <a:endParaRPr/>
          </a:p>
        </p:txBody>
      </p:sp>
      <p:pic>
        <p:nvPicPr>
          <p:cNvPr descr="image.png" id="400" name="Google Shape;400;p26"/>
          <p:cNvPicPr preferRelativeResize="0"/>
          <p:nvPr/>
        </p:nvPicPr>
        <p:blipFill rotWithShape="1">
          <a:blip r:embed="rId10">
            <a:alphaModFix/>
          </a:blip>
          <a:srcRect b="0" l="0" r="0" t="0"/>
          <a:stretch/>
        </p:blipFill>
        <p:spPr>
          <a:xfrm>
            <a:off x="8375749" y="2733972"/>
            <a:ext cx="666750" cy="666750"/>
          </a:xfrm>
          <a:prstGeom prst="rect">
            <a:avLst/>
          </a:prstGeom>
          <a:noFill/>
          <a:ln>
            <a:noFill/>
          </a:ln>
        </p:spPr>
      </p:pic>
      <p:sp>
        <p:nvSpPr>
          <p:cNvPr id="401" name="Google Shape;401;p26"/>
          <p:cNvSpPr txBox="1"/>
          <p:nvPr/>
        </p:nvSpPr>
        <p:spPr>
          <a:xfrm>
            <a:off x="8375749" y="3591222"/>
            <a:ext cx="2010251"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1E3A8A"/>
                </a:solidFill>
                <a:latin typeface="Inter"/>
                <a:ea typeface="Inter"/>
                <a:cs typeface="Inter"/>
                <a:sym typeface="Inter"/>
              </a:rPr>
              <a:t>Retrospective &amp; RCA</a:t>
            </a:r>
            <a:endParaRPr/>
          </a:p>
        </p:txBody>
      </p:sp>
      <p:sp>
        <p:nvSpPr>
          <p:cNvPr id="402" name="Google Shape;402;p26"/>
          <p:cNvSpPr txBox="1"/>
          <p:nvPr/>
        </p:nvSpPr>
        <p:spPr>
          <a:xfrm>
            <a:off x="8375749" y="3934122"/>
            <a:ext cx="2997249" cy="1035843"/>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475569"/>
                </a:solidFill>
                <a:latin typeface="Inter"/>
                <a:ea typeface="Inter"/>
                <a:cs typeface="Inter"/>
                <a:sym typeface="Inter"/>
              </a:rPr>
              <a:t>Sau mỗi Sprint, phân tích lỗi phát sinh, xác định nguyên nhân gốc rễ, cập nhật Test Case và quy trình để ngăn ngừa triệt để lỗi tái phát.</a:t>
            </a:r>
            <a:endParaRPr/>
          </a:p>
        </p:txBody>
      </p:sp>
      <p:pic>
        <p:nvPicPr>
          <p:cNvPr descr="image.png" id="403" name="Google Shape;403;p26"/>
          <p:cNvPicPr preferRelativeResize="0"/>
          <p:nvPr/>
        </p:nvPicPr>
        <p:blipFill rotWithShape="1">
          <a:blip r:embed="rId11">
            <a:alphaModFix/>
          </a:blip>
          <a:srcRect b="0" l="0" r="0" t="0"/>
          <a:stretch/>
        </p:blipFill>
        <p:spPr>
          <a:xfrm>
            <a:off x="971550" y="2886372"/>
            <a:ext cx="361950" cy="361950"/>
          </a:xfrm>
          <a:prstGeom prst="rect">
            <a:avLst/>
          </a:prstGeom>
          <a:noFill/>
          <a:ln>
            <a:noFill/>
          </a:ln>
        </p:spPr>
      </p:pic>
      <p:pic>
        <p:nvPicPr>
          <p:cNvPr descr="image.png" id="404" name="Google Shape;404;p26"/>
          <p:cNvPicPr preferRelativeResize="0"/>
          <p:nvPr/>
        </p:nvPicPr>
        <p:blipFill rotWithShape="1">
          <a:blip r:embed="rId12">
            <a:alphaModFix/>
          </a:blip>
          <a:srcRect b="0" l="0" r="0" t="0"/>
          <a:stretch/>
        </p:blipFill>
        <p:spPr>
          <a:xfrm>
            <a:off x="4702224" y="2886372"/>
            <a:ext cx="457200" cy="361950"/>
          </a:xfrm>
          <a:prstGeom prst="rect">
            <a:avLst/>
          </a:prstGeom>
          <a:noFill/>
          <a:ln>
            <a:noFill/>
          </a:ln>
        </p:spPr>
      </p:pic>
      <p:pic>
        <p:nvPicPr>
          <p:cNvPr descr="image.png" id="405" name="Google Shape;405;p26"/>
          <p:cNvPicPr preferRelativeResize="0"/>
          <p:nvPr/>
        </p:nvPicPr>
        <p:blipFill rotWithShape="1">
          <a:blip r:embed="rId13">
            <a:alphaModFix/>
          </a:blip>
          <a:srcRect b="0" l="0" r="0" t="0"/>
          <a:stretch/>
        </p:blipFill>
        <p:spPr>
          <a:xfrm>
            <a:off x="8480524" y="2886372"/>
            <a:ext cx="457200" cy="361950"/>
          </a:xfrm>
          <a:prstGeom prst="rect">
            <a:avLst/>
          </a:prstGeom>
          <a:noFill/>
          <a:ln>
            <a:noFill/>
          </a:ln>
        </p:spPr>
      </p:pic>
      <p:sp>
        <p:nvSpPr>
          <p:cNvPr id="406" name="Google Shape;406;p26"/>
          <p:cNvSpPr txBox="1"/>
          <p:nvPr/>
        </p:nvSpPr>
        <p:spPr>
          <a:xfrm>
            <a:off x="571500" y="552450"/>
            <a:ext cx="1160145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ÁP DỤNG MODULE CỤ THỂ</a:t>
            </a:r>
            <a:endParaRPr/>
          </a:p>
        </p:txBody>
      </p:sp>
      <p:sp>
        <p:nvSpPr>
          <p:cNvPr id="407" name="Google Shape;407;p26"/>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pic>
        <p:nvPicPr>
          <p:cNvPr descr="image.png" id="412" name="Google Shape;412;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13" name="Google Shape;413;p27"/>
          <p:cNvPicPr preferRelativeResize="0"/>
          <p:nvPr/>
        </p:nvPicPr>
        <p:blipFill rotWithShape="1">
          <a:blip r:embed="rId4">
            <a:alphaModFix/>
          </a:blip>
          <a:srcRect b="0" l="0" r="0" t="0"/>
          <a:stretch/>
        </p:blipFill>
        <p:spPr>
          <a:xfrm>
            <a:off x="571500" y="1581150"/>
            <a:ext cx="11049000" cy="4800600"/>
          </a:xfrm>
          <a:prstGeom prst="rect">
            <a:avLst/>
          </a:prstGeom>
          <a:noFill/>
          <a:ln>
            <a:noFill/>
          </a:ln>
        </p:spPr>
      </p:pic>
      <p:pic>
        <p:nvPicPr>
          <p:cNvPr descr="image.png" id="414" name="Google Shape;414;p27"/>
          <p:cNvPicPr preferRelativeResize="0"/>
          <p:nvPr/>
        </p:nvPicPr>
        <p:blipFill rotWithShape="1">
          <a:blip r:embed="rId5">
            <a:alphaModFix/>
          </a:blip>
          <a:srcRect b="0" l="0" r="0" t="0"/>
          <a:stretch/>
        </p:blipFill>
        <p:spPr>
          <a:xfrm>
            <a:off x="571500" y="6257925"/>
            <a:ext cx="11049000" cy="314325"/>
          </a:xfrm>
          <a:prstGeom prst="rect">
            <a:avLst/>
          </a:prstGeom>
          <a:noFill/>
          <a:ln>
            <a:noFill/>
          </a:ln>
        </p:spPr>
      </p:pic>
      <p:sp>
        <p:nvSpPr>
          <p:cNvPr id="415" name="Google Shape;415;p27"/>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27"/>
          <p:cNvSpPr txBox="1"/>
          <p:nvPr/>
        </p:nvSpPr>
        <p:spPr>
          <a:xfrm>
            <a:off x="2286000" y="5159722"/>
            <a:ext cx="7620000" cy="5403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Sau 6 tháng triển khai TPI, các chỉ số đo lường đã chứng minh sự cải thiện vượt bậc về chất lượng mã nguồn, tốc độ phân phối và khả năng kiểm soát lỗi ở giai đoạn cuối.</a:t>
            </a:r>
            <a:endParaRPr/>
          </a:p>
        </p:txBody>
      </p:sp>
      <p:sp>
        <p:nvSpPr>
          <p:cNvPr id="417" name="Google Shape;417;p27"/>
          <p:cNvSpPr txBox="1"/>
          <p:nvPr/>
        </p:nvSpPr>
        <p:spPr>
          <a:xfrm>
            <a:off x="571500" y="6410325"/>
            <a:ext cx="32481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Đảm bảo chất lượng &amp; Kiểm thử phần mềm</a:t>
            </a:r>
            <a:endParaRPr/>
          </a:p>
        </p:txBody>
      </p:sp>
      <p:sp>
        <p:nvSpPr>
          <p:cNvPr id="418" name="Google Shape;418;p27"/>
          <p:cNvSpPr txBox="1"/>
          <p:nvPr/>
        </p:nvSpPr>
        <p:spPr>
          <a:xfrm>
            <a:off x="571500" y="552450"/>
            <a:ext cx="1160145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KẾT QUẢ ĐÁNH GIÁ (SAU 6 THÁNG)</a:t>
            </a:r>
            <a:endParaRPr/>
          </a:p>
        </p:txBody>
      </p:sp>
      <p:sp>
        <p:nvSpPr>
          <p:cNvPr id="419" name="Google Shape;419;p27"/>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pic>
        <p:nvPicPr>
          <p:cNvPr descr="image.png" id="424" name="Google Shape;424;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25" name="Google Shape;425;p28"/>
          <p:cNvPicPr preferRelativeResize="0"/>
          <p:nvPr/>
        </p:nvPicPr>
        <p:blipFill rotWithShape="1">
          <a:blip r:embed="rId4">
            <a:alphaModFix/>
          </a:blip>
          <a:srcRect b="0" l="0" r="0" t="0"/>
          <a:stretch/>
        </p:blipFill>
        <p:spPr>
          <a:xfrm>
            <a:off x="571500" y="2574726"/>
            <a:ext cx="3492549" cy="2813446"/>
          </a:xfrm>
          <a:prstGeom prst="rect">
            <a:avLst/>
          </a:prstGeom>
          <a:noFill/>
          <a:ln>
            <a:noFill/>
          </a:ln>
        </p:spPr>
      </p:pic>
      <p:pic>
        <p:nvPicPr>
          <p:cNvPr descr="image.png" id="426" name="Google Shape;426;p28"/>
          <p:cNvPicPr preferRelativeResize="0"/>
          <p:nvPr/>
        </p:nvPicPr>
        <p:blipFill rotWithShape="1">
          <a:blip r:embed="rId5">
            <a:alphaModFix/>
          </a:blip>
          <a:srcRect b="0" l="0" r="0" t="0"/>
          <a:stretch/>
        </p:blipFill>
        <p:spPr>
          <a:xfrm>
            <a:off x="4349799" y="2574726"/>
            <a:ext cx="3492549" cy="2813446"/>
          </a:xfrm>
          <a:prstGeom prst="rect">
            <a:avLst/>
          </a:prstGeom>
          <a:noFill/>
          <a:ln>
            <a:noFill/>
          </a:ln>
        </p:spPr>
      </p:pic>
      <p:pic>
        <p:nvPicPr>
          <p:cNvPr descr="image.png" id="427" name="Google Shape;427;p28"/>
          <p:cNvPicPr preferRelativeResize="0"/>
          <p:nvPr/>
        </p:nvPicPr>
        <p:blipFill rotWithShape="1">
          <a:blip r:embed="rId6">
            <a:alphaModFix/>
          </a:blip>
          <a:srcRect b="0" l="0" r="0" t="0"/>
          <a:stretch/>
        </p:blipFill>
        <p:spPr>
          <a:xfrm>
            <a:off x="8128099" y="2574726"/>
            <a:ext cx="3492549" cy="2813446"/>
          </a:xfrm>
          <a:prstGeom prst="rect">
            <a:avLst/>
          </a:prstGeom>
          <a:noFill/>
          <a:ln>
            <a:noFill/>
          </a:ln>
        </p:spPr>
      </p:pic>
      <p:pic>
        <p:nvPicPr>
          <p:cNvPr descr="image.png" id="428" name="Google Shape;428;p28"/>
          <p:cNvPicPr preferRelativeResize="0"/>
          <p:nvPr/>
        </p:nvPicPr>
        <p:blipFill rotWithShape="1">
          <a:blip r:embed="rId7">
            <a:alphaModFix/>
          </a:blip>
          <a:srcRect b="0" l="0" r="0" t="0"/>
          <a:stretch/>
        </p:blipFill>
        <p:spPr>
          <a:xfrm>
            <a:off x="571500" y="6257925"/>
            <a:ext cx="11049000" cy="314325"/>
          </a:xfrm>
          <a:prstGeom prst="rect">
            <a:avLst/>
          </a:prstGeom>
          <a:noFill/>
          <a:ln>
            <a:noFill/>
          </a:ln>
        </p:spPr>
      </p:pic>
      <p:sp>
        <p:nvSpPr>
          <p:cNvPr id="429" name="Google Shape;429;p28"/>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28"/>
          <p:cNvSpPr txBox="1"/>
          <p:nvPr/>
        </p:nvSpPr>
        <p:spPr>
          <a:xfrm>
            <a:off x="571500" y="6410325"/>
            <a:ext cx="31353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Đảm bảo chất lượng &amp; Kiểm thử phần mềm</a:t>
            </a:r>
            <a:endParaRPr/>
          </a:p>
        </p:txBody>
      </p:sp>
      <p:pic>
        <p:nvPicPr>
          <p:cNvPr descr="image.png" id="431" name="Google Shape;431;p28"/>
          <p:cNvPicPr preferRelativeResize="0"/>
          <p:nvPr/>
        </p:nvPicPr>
        <p:blipFill rotWithShape="1">
          <a:blip r:embed="rId8">
            <a:alphaModFix/>
          </a:blip>
          <a:srcRect b="0" l="0" r="0" t="0"/>
          <a:stretch/>
        </p:blipFill>
        <p:spPr>
          <a:xfrm>
            <a:off x="1984325" y="2917626"/>
            <a:ext cx="666750" cy="666750"/>
          </a:xfrm>
          <a:prstGeom prst="rect">
            <a:avLst/>
          </a:prstGeom>
          <a:noFill/>
          <a:ln>
            <a:noFill/>
          </a:ln>
        </p:spPr>
      </p:pic>
      <p:sp>
        <p:nvSpPr>
          <p:cNvPr id="432" name="Google Shape;432;p28"/>
          <p:cNvSpPr txBox="1"/>
          <p:nvPr/>
        </p:nvSpPr>
        <p:spPr>
          <a:xfrm>
            <a:off x="1452592" y="3727251"/>
            <a:ext cx="1730216"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1E3A8A"/>
                </a:solidFill>
                <a:latin typeface="Inter"/>
                <a:ea typeface="Inter"/>
                <a:cs typeface="Inter"/>
                <a:sym typeface="Inter"/>
              </a:rPr>
              <a:t>Phát Hiện Sớm Lỗi</a:t>
            </a:r>
            <a:endParaRPr/>
          </a:p>
        </p:txBody>
      </p:sp>
      <p:sp>
        <p:nvSpPr>
          <p:cNvPr id="433" name="Google Shape;433;p28"/>
          <p:cNvSpPr txBox="1"/>
          <p:nvPr/>
        </p:nvSpPr>
        <p:spPr>
          <a:xfrm>
            <a:off x="819150" y="4070151"/>
            <a:ext cx="2997249" cy="9751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75569"/>
                </a:solidFill>
                <a:latin typeface="Inter"/>
                <a:ea typeface="Inter"/>
                <a:cs typeface="Inter"/>
                <a:sym typeface="Inter"/>
              </a:rPr>
              <a:t>Defect Density giảm 75%. Các lỗi nghiêm trọng được phát hiện từ giai đoạn đầu nhờ chiến lược Shift-Left Testing và Unit/API Test tự động hóa.</a:t>
            </a:r>
            <a:endParaRPr/>
          </a:p>
        </p:txBody>
      </p:sp>
      <p:pic>
        <p:nvPicPr>
          <p:cNvPr descr="image.png" id="434" name="Google Shape;434;p28"/>
          <p:cNvPicPr preferRelativeResize="0"/>
          <p:nvPr/>
        </p:nvPicPr>
        <p:blipFill rotWithShape="1">
          <a:blip r:embed="rId9">
            <a:alphaModFix/>
          </a:blip>
          <a:srcRect b="0" l="0" r="0" t="0"/>
          <a:stretch/>
        </p:blipFill>
        <p:spPr>
          <a:xfrm>
            <a:off x="5762625" y="2917626"/>
            <a:ext cx="666750" cy="666750"/>
          </a:xfrm>
          <a:prstGeom prst="rect">
            <a:avLst/>
          </a:prstGeom>
          <a:noFill/>
          <a:ln>
            <a:noFill/>
          </a:ln>
        </p:spPr>
      </p:pic>
      <p:sp>
        <p:nvSpPr>
          <p:cNvPr id="435" name="Google Shape;435;p28"/>
          <p:cNvSpPr txBox="1"/>
          <p:nvPr/>
        </p:nvSpPr>
        <p:spPr>
          <a:xfrm>
            <a:off x="5090874" y="3727251"/>
            <a:ext cx="2010251"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1E3A8A"/>
                </a:solidFill>
                <a:latin typeface="Inter"/>
                <a:ea typeface="Inter"/>
                <a:cs typeface="Inter"/>
                <a:sym typeface="Inter"/>
              </a:rPr>
              <a:t>Cải Thiện Dòng Chảy</a:t>
            </a:r>
            <a:endParaRPr/>
          </a:p>
        </p:txBody>
      </p:sp>
      <p:sp>
        <p:nvSpPr>
          <p:cNvPr id="436" name="Google Shape;436;p28"/>
          <p:cNvSpPr txBox="1"/>
          <p:nvPr/>
        </p:nvSpPr>
        <p:spPr>
          <a:xfrm>
            <a:off x="4597449" y="4070151"/>
            <a:ext cx="2997249" cy="9751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75569"/>
                </a:solidFill>
                <a:latin typeface="Inter"/>
                <a:ea typeface="Inter"/>
                <a:cs typeface="Inter"/>
                <a:sym typeface="Inter"/>
              </a:rPr>
              <a:t>Tỷ lệ lãng phí quy trình giảm từ 45% xuống 18%. Lead Time và Cycle Time giảm 60% nhờ áp dụng bảng Kanban và giới hạn WIP hiệu quả.</a:t>
            </a:r>
            <a:endParaRPr/>
          </a:p>
        </p:txBody>
      </p:sp>
      <p:pic>
        <p:nvPicPr>
          <p:cNvPr descr="image.png" id="437" name="Google Shape;437;p28"/>
          <p:cNvPicPr preferRelativeResize="0"/>
          <p:nvPr/>
        </p:nvPicPr>
        <p:blipFill rotWithShape="1">
          <a:blip r:embed="rId10">
            <a:alphaModFix/>
          </a:blip>
          <a:srcRect b="0" l="0" r="0" t="0"/>
          <a:stretch/>
        </p:blipFill>
        <p:spPr>
          <a:xfrm>
            <a:off x="9540924" y="2917626"/>
            <a:ext cx="666750" cy="666750"/>
          </a:xfrm>
          <a:prstGeom prst="rect">
            <a:avLst/>
          </a:prstGeom>
          <a:noFill/>
          <a:ln>
            <a:noFill/>
          </a:ln>
        </p:spPr>
      </p:pic>
      <p:sp>
        <p:nvSpPr>
          <p:cNvPr id="438" name="Google Shape;438;p28"/>
          <p:cNvSpPr txBox="1"/>
          <p:nvPr/>
        </p:nvSpPr>
        <p:spPr>
          <a:xfrm>
            <a:off x="8844170" y="3727251"/>
            <a:ext cx="2060257"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1E3A8A"/>
                </a:solidFill>
                <a:latin typeface="Inter"/>
                <a:ea typeface="Inter"/>
                <a:cs typeface="Inter"/>
                <a:sym typeface="Inter"/>
              </a:rPr>
              <a:t>Giảm Kháng Cự &amp; ROI</a:t>
            </a:r>
            <a:endParaRPr/>
          </a:p>
        </p:txBody>
      </p:sp>
      <p:sp>
        <p:nvSpPr>
          <p:cNvPr id="439" name="Google Shape;439;p28"/>
          <p:cNvSpPr txBox="1"/>
          <p:nvPr/>
        </p:nvSpPr>
        <p:spPr>
          <a:xfrm>
            <a:off x="8375749" y="4070151"/>
            <a:ext cx="2997249" cy="9751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475569"/>
                </a:solidFill>
                <a:latin typeface="Inter"/>
                <a:ea typeface="Inter"/>
                <a:cs typeface="Inter"/>
                <a:sym typeface="Inter"/>
              </a:rPr>
              <a:t>Đầu tư ban đầu tăng nhưng chi phí bảo trì giảm rõ rệt. Đội nhóm chấp nhận quy trình mới nhờ phương pháp đào tạo từng bước và Kaizen.</a:t>
            </a:r>
            <a:endParaRPr/>
          </a:p>
        </p:txBody>
      </p:sp>
      <p:pic>
        <p:nvPicPr>
          <p:cNvPr descr="image.png" id="440" name="Google Shape;440;p28"/>
          <p:cNvPicPr preferRelativeResize="0"/>
          <p:nvPr/>
        </p:nvPicPr>
        <p:blipFill rotWithShape="1">
          <a:blip r:embed="rId11">
            <a:alphaModFix/>
          </a:blip>
          <a:srcRect b="0" l="0" r="0" t="0"/>
          <a:stretch/>
        </p:blipFill>
        <p:spPr>
          <a:xfrm>
            <a:off x="2089100" y="3070026"/>
            <a:ext cx="457200" cy="361950"/>
          </a:xfrm>
          <a:prstGeom prst="rect">
            <a:avLst/>
          </a:prstGeom>
          <a:noFill/>
          <a:ln>
            <a:noFill/>
          </a:ln>
        </p:spPr>
      </p:pic>
      <p:pic>
        <p:nvPicPr>
          <p:cNvPr descr="image.png" id="441" name="Google Shape;441;p28"/>
          <p:cNvPicPr preferRelativeResize="0"/>
          <p:nvPr/>
        </p:nvPicPr>
        <p:blipFill rotWithShape="1">
          <a:blip r:embed="rId12">
            <a:alphaModFix/>
          </a:blip>
          <a:srcRect b="0" l="0" r="0" t="0"/>
          <a:stretch/>
        </p:blipFill>
        <p:spPr>
          <a:xfrm>
            <a:off x="5867400" y="3070026"/>
            <a:ext cx="457200" cy="361950"/>
          </a:xfrm>
          <a:prstGeom prst="rect">
            <a:avLst/>
          </a:prstGeom>
          <a:noFill/>
          <a:ln>
            <a:noFill/>
          </a:ln>
        </p:spPr>
      </p:pic>
      <p:pic>
        <p:nvPicPr>
          <p:cNvPr descr="image.png" id="442" name="Google Shape;442;p28"/>
          <p:cNvPicPr preferRelativeResize="0"/>
          <p:nvPr/>
        </p:nvPicPr>
        <p:blipFill rotWithShape="1">
          <a:blip r:embed="rId13">
            <a:alphaModFix/>
          </a:blip>
          <a:srcRect b="0" l="0" r="0" t="0"/>
          <a:stretch/>
        </p:blipFill>
        <p:spPr>
          <a:xfrm>
            <a:off x="9645699" y="3070026"/>
            <a:ext cx="457200" cy="361950"/>
          </a:xfrm>
          <a:prstGeom prst="rect">
            <a:avLst/>
          </a:prstGeom>
          <a:noFill/>
          <a:ln>
            <a:noFill/>
          </a:ln>
        </p:spPr>
      </p:pic>
      <p:sp>
        <p:nvSpPr>
          <p:cNvPr id="443" name="Google Shape;443;p28"/>
          <p:cNvSpPr txBox="1"/>
          <p:nvPr/>
        </p:nvSpPr>
        <p:spPr>
          <a:xfrm>
            <a:off x="571500" y="552450"/>
            <a:ext cx="11601450"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PHÂN TÍCH HIỆU QUẢ</a:t>
            </a:r>
            <a:endParaRPr/>
          </a:p>
        </p:txBody>
      </p:sp>
      <p:sp>
        <p:nvSpPr>
          <p:cNvPr id="444" name="Google Shape;444;p28"/>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pic>
        <p:nvPicPr>
          <p:cNvPr descr="image.png" id="449" name="Google Shape;449;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50" name="Google Shape;450;p29"/>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29"/>
          <p:cNvSpPr/>
          <p:nvPr/>
        </p:nvSpPr>
        <p:spPr>
          <a:xfrm>
            <a:off x="1333500" y="1581150"/>
            <a:ext cx="9525000" cy="1466552"/>
          </a:xfrm>
          <a:prstGeom prst="roundRect">
            <a:avLst>
              <a:gd fmla="val 6494"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2" name="Google Shape;452;p29"/>
          <p:cNvSpPr txBox="1"/>
          <p:nvPr/>
        </p:nvSpPr>
        <p:spPr>
          <a:xfrm>
            <a:off x="1952625" y="1819275"/>
            <a:ext cx="8667750" cy="99030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1E3A8A"/>
                </a:solidFill>
                <a:latin typeface="Inter"/>
                <a:ea typeface="Inter"/>
                <a:cs typeface="Inter"/>
                <a:sym typeface="Inter"/>
              </a:rPr>
              <a:t>Giải Pháp Tối Ưu Cho SMEs</a:t>
            </a:r>
            <a:r>
              <a:rPr b="0" i="0" lang="en-US" sz="1425" u="none" cap="none" strike="noStrike">
                <a:solidFill>
                  <a:srgbClr val="475569"/>
                </a:solidFill>
                <a:latin typeface="Inter"/>
                <a:ea typeface="Inter"/>
                <a:cs typeface="Inter"/>
                <a:sym typeface="Inter"/>
              </a:rPr>
              <a:t> Sự kết hợp giữa TMMi và Lean Testing mang lại sự cân bằng hoàn hảo giữa việc chuẩn hóa quy trình chuyên nghiệp và duy trì tính linh hoạt trong thực thi.</a:t>
            </a:r>
            <a:endParaRPr/>
          </a:p>
        </p:txBody>
      </p:sp>
      <p:sp>
        <p:nvSpPr>
          <p:cNvPr id="453" name="Google Shape;453;p29"/>
          <p:cNvSpPr/>
          <p:nvPr/>
        </p:nvSpPr>
        <p:spPr>
          <a:xfrm>
            <a:off x="1333500" y="1581150"/>
            <a:ext cx="47625" cy="1466552"/>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4" name="Google Shape;454;p29"/>
          <p:cNvSpPr/>
          <p:nvPr/>
        </p:nvSpPr>
        <p:spPr>
          <a:xfrm>
            <a:off x="1333500" y="3285827"/>
            <a:ext cx="9525000" cy="1466552"/>
          </a:xfrm>
          <a:prstGeom prst="roundRect">
            <a:avLst>
              <a:gd fmla="val 6494"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29"/>
          <p:cNvSpPr txBox="1"/>
          <p:nvPr/>
        </p:nvSpPr>
        <p:spPr>
          <a:xfrm>
            <a:off x="1952625" y="3523952"/>
            <a:ext cx="8667750" cy="99030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1E3A8A"/>
                </a:solidFill>
                <a:latin typeface="Inter"/>
                <a:ea typeface="Inter"/>
                <a:cs typeface="Inter"/>
                <a:sym typeface="Inter"/>
              </a:rPr>
              <a:t>Quyết Định Dựa Trên Dữ Liệu</a:t>
            </a:r>
            <a:r>
              <a:rPr b="0" i="0" lang="en-US" sz="1425" u="none" cap="none" strike="noStrike">
                <a:solidFill>
                  <a:srgbClr val="475569"/>
                </a:solidFill>
                <a:latin typeface="Inter"/>
                <a:ea typeface="Inter"/>
                <a:cs typeface="Inter"/>
                <a:sym typeface="Inter"/>
              </a:rPr>
              <a:t> Việc áp dụng Metrics &amp; Feedback Loops giúp nhóm ra quyết định dựa trên dữ liệu thực tế, rút ngắn vòng phản hồi và liên tục cải tiến.</a:t>
            </a:r>
            <a:endParaRPr/>
          </a:p>
        </p:txBody>
      </p:sp>
      <p:sp>
        <p:nvSpPr>
          <p:cNvPr id="456" name="Google Shape;456;p29"/>
          <p:cNvSpPr/>
          <p:nvPr/>
        </p:nvSpPr>
        <p:spPr>
          <a:xfrm>
            <a:off x="1333500" y="3285827"/>
            <a:ext cx="47625" cy="1466552"/>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7" name="Google Shape;457;p29"/>
          <p:cNvSpPr/>
          <p:nvPr/>
        </p:nvSpPr>
        <p:spPr>
          <a:xfrm>
            <a:off x="1333500" y="4990504"/>
            <a:ext cx="9525000" cy="1466552"/>
          </a:xfrm>
          <a:prstGeom prst="roundRect">
            <a:avLst>
              <a:gd fmla="val 6494"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29"/>
          <p:cNvSpPr txBox="1"/>
          <p:nvPr/>
        </p:nvSpPr>
        <p:spPr>
          <a:xfrm>
            <a:off x="1952625" y="5228629"/>
            <a:ext cx="8667750" cy="99030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1E3A8A"/>
                </a:solidFill>
                <a:latin typeface="Inter"/>
                <a:ea typeface="Inter"/>
                <a:cs typeface="Inter"/>
                <a:sym typeface="Inter"/>
              </a:rPr>
              <a:t>Nền Tảng Phát Triển Bền Vững</a:t>
            </a:r>
            <a:r>
              <a:rPr b="0" i="0" lang="en-US" sz="1425" u="none" cap="none" strike="noStrike">
                <a:solidFill>
                  <a:srgbClr val="475569"/>
                </a:solidFill>
                <a:latin typeface="Inter"/>
                <a:ea typeface="Inter"/>
                <a:cs typeface="Inter"/>
                <a:sym typeface="Inter"/>
              </a:rPr>
              <a:t> Cải thiện rõ rệt hiệu suất kiểm thử: rút ngắn release cycle, giảm thiểu lãng phí và tăng độ tin cậy của phần mềm.</a:t>
            </a:r>
            <a:endParaRPr/>
          </a:p>
        </p:txBody>
      </p:sp>
      <p:sp>
        <p:nvSpPr>
          <p:cNvPr id="459" name="Google Shape;459;p29"/>
          <p:cNvSpPr/>
          <p:nvPr/>
        </p:nvSpPr>
        <p:spPr>
          <a:xfrm>
            <a:off x="1333500" y="4990504"/>
            <a:ext cx="47625" cy="1466552"/>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60" name="Google Shape;460;p29"/>
          <p:cNvPicPr preferRelativeResize="0"/>
          <p:nvPr/>
        </p:nvPicPr>
        <p:blipFill rotWithShape="1">
          <a:blip r:embed="rId4">
            <a:alphaModFix/>
          </a:blip>
          <a:srcRect b="0" l="0" r="0" t="0"/>
          <a:stretch/>
        </p:blipFill>
        <p:spPr>
          <a:xfrm>
            <a:off x="1571625" y="1814512"/>
            <a:ext cx="219075" cy="257175"/>
          </a:xfrm>
          <a:prstGeom prst="rect">
            <a:avLst/>
          </a:prstGeom>
          <a:noFill/>
          <a:ln>
            <a:noFill/>
          </a:ln>
        </p:spPr>
      </p:pic>
      <p:pic>
        <p:nvPicPr>
          <p:cNvPr descr="image.png" id="461" name="Google Shape;461;p29"/>
          <p:cNvPicPr preferRelativeResize="0"/>
          <p:nvPr/>
        </p:nvPicPr>
        <p:blipFill rotWithShape="1">
          <a:blip r:embed="rId5">
            <a:alphaModFix/>
          </a:blip>
          <a:srcRect b="0" l="0" r="0" t="0"/>
          <a:stretch/>
        </p:blipFill>
        <p:spPr>
          <a:xfrm>
            <a:off x="1571625" y="3519189"/>
            <a:ext cx="219075" cy="257175"/>
          </a:xfrm>
          <a:prstGeom prst="rect">
            <a:avLst/>
          </a:prstGeom>
          <a:noFill/>
          <a:ln>
            <a:noFill/>
          </a:ln>
        </p:spPr>
      </p:pic>
      <p:pic>
        <p:nvPicPr>
          <p:cNvPr descr="image.png" id="462" name="Google Shape;462;p29"/>
          <p:cNvPicPr preferRelativeResize="0"/>
          <p:nvPr/>
        </p:nvPicPr>
        <p:blipFill rotWithShape="1">
          <a:blip r:embed="rId6">
            <a:alphaModFix/>
          </a:blip>
          <a:srcRect b="0" l="0" r="0" t="0"/>
          <a:stretch/>
        </p:blipFill>
        <p:spPr>
          <a:xfrm>
            <a:off x="1571625" y="5223867"/>
            <a:ext cx="247650" cy="257175"/>
          </a:xfrm>
          <a:prstGeom prst="rect">
            <a:avLst/>
          </a:prstGeom>
          <a:noFill/>
          <a:ln>
            <a:noFill/>
          </a:ln>
        </p:spPr>
      </p:pic>
      <p:sp>
        <p:nvSpPr>
          <p:cNvPr id="463" name="Google Shape;463;p29"/>
          <p:cNvSpPr txBox="1"/>
          <p:nvPr/>
        </p:nvSpPr>
        <p:spPr>
          <a:xfrm>
            <a:off x="571500" y="552450"/>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KẾT LUẬN</a:t>
            </a:r>
            <a:endParaRPr/>
          </a:p>
        </p:txBody>
      </p:sp>
      <p:sp>
        <p:nvSpPr>
          <p:cNvPr id="464" name="Google Shape;464;p29"/>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8" name="Shape 468"/>
        <p:cNvGrpSpPr/>
        <p:nvPr/>
      </p:nvGrpSpPr>
      <p:grpSpPr>
        <a:xfrm>
          <a:off x="0" y="0"/>
          <a:ext cx="0" cy="0"/>
          <a:chOff x="0" y="0"/>
          <a:chExt cx="0" cy="0"/>
        </a:xfrm>
      </p:grpSpPr>
      <p:pic>
        <p:nvPicPr>
          <p:cNvPr descr="image.png" id="469" name="Google Shape;469;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70" name="Google Shape;470;p30"/>
          <p:cNvPicPr preferRelativeResize="0"/>
          <p:nvPr/>
        </p:nvPicPr>
        <p:blipFill rotWithShape="1">
          <a:blip r:embed="rId4">
            <a:alphaModFix/>
          </a:blip>
          <a:srcRect b="0" l="0" r="0" t="0"/>
          <a:stretch/>
        </p:blipFill>
        <p:spPr>
          <a:xfrm>
            <a:off x="571500" y="2346275"/>
            <a:ext cx="5238750" cy="3270349"/>
          </a:xfrm>
          <a:prstGeom prst="rect">
            <a:avLst/>
          </a:prstGeom>
          <a:noFill/>
          <a:ln>
            <a:noFill/>
          </a:ln>
        </p:spPr>
      </p:pic>
      <p:pic>
        <p:nvPicPr>
          <p:cNvPr descr="image.png" id="471" name="Google Shape;471;p30"/>
          <p:cNvPicPr preferRelativeResize="0"/>
          <p:nvPr/>
        </p:nvPicPr>
        <p:blipFill rotWithShape="1">
          <a:blip r:embed="rId5">
            <a:alphaModFix/>
          </a:blip>
          <a:srcRect b="0" l="0" r="0" t="0"/>
          <a:stretch/>
        </p:blipFill>
        <p:spPr>
          <a:xfrm>
            <a:off x="6381750" y="2346275"/>
            <a:ext cx="5238750" cy="3270349"/>
          </a:xfrm>
          <a:prstGeom prst="rect">
            <a:avLst/>
          </a:prstGeom>
          <a:noFill/>
          <a:ln>
            <a:noFill/>
          </a:ln>
        </p:spPr>
      </p:pic>
      <p:pic>
        <p:nvPicPr>
          <p:cNvPr descr="image.png" id="472" name="Google Shape;472;p30"/>
          <p:cNvPicPr preferRelativeResize="0"/>
          <p:nvPr/>
        </p:nvPicPr>
        <p:blipFill rotWithShape="1">
          <a:blip r:embed="rId6">
            <a:alphaModFix/>
          </a:blip>
          <a:srcRect b="0" l="0" r="0" t="0"/>
          <a:stretch/>
        </p:blipFill>
        <p:spPr>
          <a:xfrm>
            <a:off x="571500" y="6257925"/>
            <a:ext cx="11049000" cy="314325"/>
          </a:xfrm>
          <a:prstGeom prst="rect">
            <a:avLst/>
          </a:prstGeom>
          <a:noFill/>
          <a:ln>
            <a:noFill/>
          </a:ln>
        </p:spPr>
      </p:pic>
      <p:sp>
        <p:nvSpPr>
          <p:cNvPr id="473" name="Google Shape;473;p30"/>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30"/>
          <p:cNvSpPr txBox="1"/>
          <p:nvPr/>
        </p:nvSpPr>
        <p:spPr>
          <a:xfrm>
            <a:off x="571500" y="6410325"/>
            <a:ext cx="33042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Đảm bảo chất lượng &amp; Kiểm thử phần mềm</a:t>
            </a:r>
            <a:endParaRPr/>
          </a:p>
        </p:txBody>
      </p:sp>
      <p:sp>
        <p:nvSpPr>
          <p:cNvPr id="475" name="Google Shape;475;p30"/>
          <p:cNvSpPr txBox="1"/>
          <p:nvPr/>
        </p:nvSpPr>
        <p:spPr>
          <a:xfrm>
            <a:off x="962025" y="2736800"/>
            <a:ext cx="4680585" cy="295275"/>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i="0" lang="en-US" sz="1950" u="none" cap="none" strike="noStrike">
                <a:solidFill>
                  <a:srgbClr val="B91C1C"/>
                </a:solidFill>
                <a:latin typeface="Inter"/>
                <a:ea typeface="Inter"/>
                <a:cs typeface="Inter"/>
                <a:sym typeface="Inter"/>
              </a:rPr>
              <a:t>Hạn Chế Hiện Tại</a:t>
            </a:r>
            <a:endParaRPr/>
          </a:p>
        </p:txBody>
      </p:sp>
      <p:sp>
        <p:nvSpPr>
          <p:cNvPr id="476" name="Google Shape;476;p30"/>
          <p:cNvSpPr txBox="1"/>
          <p:nvPr/>
        </p:nvSpPr>
        <p:spPr>
          <a:xfrm>
            <a:off x="962025" y="3146375"/>
            <a:ext cx="445770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475569"/>
                </a:solidFill>
                <a:latin typeface="Inter"/>
                <a:ea typeface="Inter"/>
                <a:cs typeface="Inter"/>
                <a:sym typeface="Inter"/>
              </a:rPr>
              <a:t>Dữ liệu thực nghiệm:</a:t>
            </a:r>
            <a:r>
              <a:rPr b="0" i="0" lang="en-US" sz="1425" u="none" cap="none" strike="noStrike">
                <a:solidFill>
                  <a:srgbClr val="475569"/>
                </a:solidFill>
                <a:latin typeface="Inter"/>
                <a:ea typeface="Inter"/>
                <a:cs typeface="Inter"/>
                <a:sym typeface="Inter"/>
              </a:rPr>
              <a:t> Số liệu một phần dựa trên mô phỏng giả lập, chưa kiểm chứng sâu rộng trên nhiều dự án thực tế đa dạng.</a:t>
            </a:r>
            <a:endParaRPr/>
          </a:p>
        </p:txBody>
      </p:sp>
      <p:sp>
        <p:nvSpPr>
          <p:cNvPr id="477" name="Google Shape;477;p30"/>
          <p:cNvSpPr txBox="1"/>
          <p:nvPr/>
        </p:nvSpPr>
        <p:spPr>
          <a:xfrm>
            <a:off x="962025" y="4157662"/>
            <a:ext cx="445770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475569"/>
                </a:solidFill>
                <a:latin typeface="Inter"/>
                <a:ea typeface="Inter"/>
                <a:cs typeface="Inter"/>
                <a:sym typeface="Inter"/>
              </a:rPr>
              <a:t>Yếu tố văn hóa:</a:t>
            </a:r>
            <a:r>
              <a:rPr b="0" i="0" lang="en-US" sz="1425" u="none" cap="none" strike="noStrike">
                <a:solidFill>
                  <a:srgbClr val="475569"/>
                </a:solidFill>
                <a:latin typeface="Inter"/>
                <a:ea typeface="Inter"/>
                <a:cs typeface="Inter"/>
                <a:sym typeface="Inter"/>
              </a:rPr>
              <a:t> Nghiên cứu chưa đi sâu vào giải quyết các rào cản về yếu tố văn hóa tổ chức và tâm lý con người khi áp dụng TPI.</a:t>
            </a:r>
            <a:endParaRPr/>
          </a:p>
        </p:txBody>
      </p:sp>
      <p:sp>
        <p:nvSpPr>
          <p:cNvPr id="478" name="Google Shape;478;p30"/>
          <p:cNvSpPr txBox="1"/>
          <p:nvPr/>
        </p:nvSpPr>
        <p:spPr>
          <a:xfrm>
            <a:off x="6772275" y="2736800"/>
            <a:ext cx="4680585" cy="295275"/>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i="0" lang="en-US" sz="1950" u="none" cap="none" strike="noStrike">
                <a:solidFill>
                  <a:srgbClr val="15803D"/>
                </a:solidFill>
                <a:latin typeface="Inter"/>
                <a:ea typeface="Inter"/>
                <a:cs typeface="Inter"/>
                <a:sym typeface="Inter"/>
              </a:rPr>
              <a:t>Hướng Phát Triển Tương Lai</a:t>
            </a:r>
            <a:endParaRPr/>
          </a:p>
        </p:txBody>
      </p:sp>
      <p:pic>
        <p:nvPicPr>
          <p:cNvPr descr="image.png" id="479" name="Google Shape;479;p30"/>
          <p:cNvPicPr preferRelativeResize="0"/>
          <p:nvPr/>
        </p:nvPicPr>
        <p:blipFill rotWithShape="1">
          <a:blip r:embed="rId7">
            <a:alphaModFix/>
          </a:blip>
          <a:srcRect b="0" l="0" r="0" t="0"/>
          <a:stretch/>
        </p:blipFill>
        <p:spPr>
          <a:xfrm>
            <a:off x="962025" y="2765375"/>
            <a:ext cx="247650" cy="247650"/>
          </a:xfrm>
          <a:prstGeom prst="rect">
            <a:avLst/>
          </a:prstGeom>
          <a:noFill/>
          <a:ln>
            <a:noFill/>
          </a:ln>
        </p:spPr>
      </p:pic>
      <p:pic>
        <p:nvPicPr>
          <p:cNvPr descr="image.png" id="480" name="Google Shape;480;p30"/>
          <p:cNvPicPr preferRelativeResize="0"/>
          <p:nvPr/>
        </p:nvPicPr>
        <p:blipFill rotWithShape="1">
          <a:blip r:embed="rId8">
            <a:alphaModFix/>
          </a:blip>
          <a:srcRect b="0" l="0" r="0" t="0"/>
          <a:stretch/>
        </p:blipFill>
        <p:spPr>
          <a:xfrm>
            <a:off x="6772275" y="2765375"/>
            <a:ext cx="247650" cy="247650"/>
          </a:xfrm>
          <a:prstGeom prst="rect">
            <a:avLst/>
          </a:prstGeom>
          <a:noFill/>
          <a:ln>
            <a:noFill/>
          </a:ln>
        </p:spPr>
      </p:pic>
      <p:sp>
        <p:nvSpPr>
          <p:cNvPr id="481" name="Google Shape;481;p30"/>
          <p:cNvSpPr txBox="1"/>
          <p:nvPr/>
        </p:nvSpPr>
        <p:spPr>
          <a:xfrm>
            <a:off x="7010400" y="3146375"/>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Thực nghiệm trên nhiều dự án thực tế với quy mô và lĩnh vực khác nhau.</a:t>
            </a:r>
            <a:endParaRPr/>
          </a:p>
        </p:txBody>
      </p:sp>
      <p:sp>
        <p:nvSpPr>
          <p:cNvPr id="482" name="Google Shape;482;p30"/>
          <p:cNvSpPr txBox="1"/>
          <p:nvPr/>
        </p:nvSpPr>
        <p:spPr>
          <a:xfrm>
            <a:off x="7010400" y="3820566"/>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Ứng dụng AI/ML trong phân tích lỗi tự động, dự đoán rủi ro và sinh test case thông minh.</a:t>
            </a:r>
            <a:endParaRPr/>
          </a:p>
        </p:txBody>
      </p:sp>
      <p:sp>
        <p:nvSpPr>
          <p:cNvPr id="483" name="Google Shape;483;p30"/>
          <p:cNvSpPr txBox="1"/>
          <p:nvPr/>
        </p:nvSpPr>
        <p:spPr>
          <a:xfrm>
            <a:off x="7010400" y="4494758"/>
            <a:ext cx="42195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Inter"/>
                <a:ea typeface="Inter"/>
                <a:cs typeface="Inter"/>
                <a:sym typeface="Inter"/>
              </a:rPr>
              <a:t>• </a:t>
            </a:r>
            <a:r>
              <a:rPr b="0" i="0" lang="en-US" sz="1425" u="none" cap="none" strike="noStrike">
                <a:solidFill>
                  <a:srgbClr val="475569"/>
                </a:solidFill>
                <a:latin typeface="Inter"/>
                <a:ea typeface="Inter"/>
                <a:cs typeface="Inter"/>
                <a:sym typeface="Inter"/>
              </a:rPr>
              <a:t>Mở rộng tích hợp CI/CD toàn diện và áp dụng mô hình DevOps quy mô lớn.</a:t>
            </a:r>
            <a:endParaRPr/>
          </a:p>
        </p:txBody>
      </p:sp>
      <p:sp>
        <p:nvSpPr>
          <p:cNvPr id="484" name="Google Shape;484;p30"/>
          <p:cNvSpPr txBox="1"/>
          <p:nvPr/>
        </p:nvSpPr>
        <p:spPr>
          <a:xfrm>
            <a:off x="571500" y="552450"/>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1E3A8A"/>
                </a:solidFill>
                <a:latin typeface="Playfair Display"/>
                <a:ea typeface="Playfair Display"/>
                <a:cs typeface="Playfair Display"/>
                <a:sym typeface="Playfair Display"/>
              </a:rPr>
              <a:t>HẠN CHẾ </a:t>
            </a:r>
            <a:r>
              <a:rPr b="1" lang="en-US" sz="2850">
                <a:solidFill>
                  <a:srgbClr val="1E3A8A"/>
                </a:solidFill>
                <a:latin typeface="Playfair Display"/>
                <a:ea typeface="Playfair Display"/>
                <a:cs typeface="Playfair Display"/>
                <a:sym typeface="Playfair Display"/>
              </a:rPr>
              <a:t>VÀ</a:t>
            </a:r>
            <a:r>
              <a:rPr b="1" i="0" lang="en-US" sz="2850" u="none" cap="none" strike="noStrike">
                <a:solidFill>
                  <a:srgbClr val="1E3A8A"/>
                </a:solidFill>
                <a:latin typeface="Playfair Display"/>
                <a:ea typeface="Playfair Display"/>
                <a:cs typeface="Playfair Display"/>
                <a:sym typeface="Playfair Display"/>
              </a:rPr>
              <a:t> HƯỚNG PHÁT TRIỂN</a:t>
            </a:r>
            <a:endParaRPr/>
          </a:p>
        </p:txBody>
      </p:sp>
      <p:sp>
        <p:nvSpPr>
          <p:cNvPr id="485" name="Google Shape;485;p30"/>
          <p:cNvSpPr/>
          <p:nvPr/>
        </p:nvSpPr>
        <p:spPr>
          <a:xfrm>
            <a:off x="571500" y="1181100"/>
            <a:ext cx="11049000"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9" name="Shape 489"/>
        <p:cNvGrpSpPr/>
        <p:nvPr/>
      </p:nvGrpSpPr>
      <p:grpSpPr>
        <a:xfrm>
          <a:off x="0" y="0"/>
          <a:ext cx="0" cy="0"/>
          <a:chOff x="0" y="0"/>
          <a:chExt cx="0" cy="0"/>
        </a:xfrm>
      </p:grpSpPr>
      <p:pic>
        <p:nvPicPr>
          <p:cNvPr descr="image.png" id="490" name="Google Shape;490;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91" name="Google Shape;491;p31"/>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2" name="Google Shape;492;p31"/>
          <p:cNvSpPr txBox="1"/>
          <p:nvPr/>
        </p:nvSpPr>
        <p:spPr>
          <a:xfrm>
            <a:off x="295275" y="1908869"/>
            <a:ext cx="11601450" cy="8096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1E3A8A"/>
                </a:solidFill>
                <a:latin typeface="Playfair Display"/>
                <a:ea typeface="Playfair Display"/>
                <a:cs typeface="Playfair Display"/>
                <a:sym typeface="Playfair Display"/>
              </a:rPr>
              <a:t>XIN CHÂN THÀNH CẢM ƠN!</a:t>
            </a:r>
            <a:endParaRPr/>
          </a:p>
        </p:txBody>
      </p:sp>
      <p:sp>
        <p:nvSpPr>
          <p:cNvPr id="493" name="Google Shape;493;p31"/>
          <p:cNvSpPr txBox="1"/>
          <p:nvPr/>
        </p:nvSpPr>
        <p:spPr>
          <a:xfrm>
            <a:off x="0" y="6410325"/>
            <a:ext cx="1219200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94A3B8"/>
                </a:solidFill>
                <a:latin typeface="Inter Medium"/>
                <a:ea typeface="Inter Medium"/>
                <a:cs typeface="Inter Medium"/>
                <a:sym typeface="Inter Medium"/>
              </a:rPr>
              <a:t>Đảm bảo chất lượng &amp; Kiểm thử phần mềm - Thái Nguyên 2026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